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0"/>
    <p:restoredTop sz="94610"/>
  </p:normalViewPr>
  <p:slideViewPr>
    <p:cSldViewPr snapToGrid="0" snapToObjects="1">
      <p:cViewPr varScale="1">
        <p:scale>
          <a:sx n="123" d="100"/>
          <a:sy n="123"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29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TEMPLATE (delete nothing on the slide; write your talk script below this block)
1. This is the only slide you present. No title slide, no extra slides, no animations.
2. Do not move, resize, or restyle any box, and do not change a font size. The fonts are fixed so the room can read every team at the same size. If your text does not fit, cut words: the box is the word limit.
3. Paste as plain text (Ctrl+Shift+V on Windows, Cmd+Shift+Option+V on Mac) so you do not import another font size.
4. Box 4 takes exactly one plot. Click the picture icon to insert it. Label both axes and draw the baseline on the same axes.
5. Gate check: for each of the five constraints, write yes, unsure, or no, plus a few words of evidence. "Unsure" is an honest and acceptable answer at Week 9.
6. Status: on track, at risk, or pivoted. Pivoting is fine if box 5 says why.
TIMING: 6 minutes talking, 4 minutes questions. Spend about half your talk on boxes 4 and 5. End on box 7 and wait for an answer.
SUBMIT: save as TeamNN_Midterm.pptx (two-digit team number) and upload to Canvas by the deadline posted there, so all teams can be merged into one deck.
---- YOUR SCRIPT ----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idterm Progress">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37744"/>
            <a:ext cx="8138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CIS 4930/6930  ML FOR COMPUTER SYSTEMS PROGRESS REPORT</a:t>
            </a:r>
            <a:endParaRPr lang="en-US" sz="1000" dirty="0"/>
          </a:p>
        </p:txBody>
      </p:sp>
      <p:sp>
        <p:nvSpPr>
          <p:cNvPr id="3" name="Text 1"/>
          <p:cNvSpPr>
            <a:spLocks noGrp="1"/>
          </p:cNvSpPr>
          <p:nvPr>
            <p:ph type="body" idx="101" hasCustomPrompt="1"/>
          </p:nvPr>
        </p:nvSpPr>
        <p:spPr>
          <a:xfrm>
            <a:off x="411480" y="420624"/>
            <a:ext cx="8183880" cy="694944"/>
          </a:xfrm>
          <a:prstGeom prst="rect">
            <a:avLst/>
          </a:prstGeom>
          <a:noFill/>
          <a:ln/>
        </p:spPr>
        <p:txBody>
          <a:bodyPr wrap="square" lIns="0" tIns="27432" rIns="0" bIns="0" rtlCol="0" anchor="b">
            <a:noAutofit/>
          </a:bodyPr>
          <a:lstStyle>
            <a:lvl1pPr marL="0" indent="0">
              <a:buNone/>
              <a:defRPr lang="en-US" sz="2200" b="1" dirty="0">
                <a:solidFill>
                  <a:srgbClr val="1C3557"/>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Project title</a:t>
            </a:r>
            <a:endParaRPr lang="en-US" sz="2200" dirty="0"/>
          </a:p>
        </p:txBody>
      </p:sp>
      <p:sp>
        <p:nvSpPr>
          <p:cNvPr id="5" name="Text 1"/>
          <p:cNvSpPr/>
          <p:nvPr/>
        </p:nvSpPr>
        <p:spPr>
          <a:xfrm>
            <a:off x="8823960" y="45720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TEAM</a:t>
            </a:r>
            <a:endParaRPr lang="en-US" sz="1000" dirty="0"/>
          </a:p>
        </p:txBody>
      </p:sp>
      <p:sp>
        <p:nvSpPr>
          <p:cNvPr id="6" name="Text 2"/>
          <p:cNvSpPr/>
          <p:nvPr/>
        </p:nvSpPr>
        <p:spPr>
          <a:xfrm>
            <a:off x="9921240" y="457200"/>
            <a:ext cx="1856232"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LAYER OF THE STACK</a:t>
            </a:r>
            <a:endParaRPr lang="en-US" sz="1000" dirty="0"/>
          </a:p>
        </p:txBody>
      </p:sp>
      <p:sp>
        <p:nvSpPr>
          <p:cNvPr id="7" name="Text 3"/>
          <p:cNvSpPr>
            <a:spLocks noGrp="1"/>
          </p:cNvSpPr>
          <p:nvPr>
            <p:ph type="body" idx="105" hasCustomPrompt="1"/>
          </p:nvPr>
        </p:nvSpPr>
        <p:spPr>
          <a:xfrm>
            <a:off x="8823960" y="640080"/>
            <a:ext cx="960120" cy="384048"/>
          </a:xfrm>
          <a:prstGeom prst="rect">
            <a:avLst/>
          </a:prstGeom>
          <a:noFill/>
          <a:ln/>
        </p:spPr>
        <p:txBody>
          <a:bodyPr wrap="square" lIns="0" tIns="27432" rIns="0" bIns="0" rtlCol="0" anchor="t">
            <a:noAutofit/>
          </a:bodyPr>
          <a:lstStyle>
            <a:lvl1pPr marL="0" indent="0">
              <a:buNone/>
              <a:defRPr lang="en-US" sz="2200" b="1" dirty="0">
                <a:solidFill>
                  <a:srgbClr val="B5431F"/>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00</a:t>
            </a:r>
            <a:endParaRPr lang="en-US" sz="2200" dirty="0"/>
          </a:p>
        </p:txBody>
      </p:sp>
      <p:sp>
        <p:nvSpPr>
          <p:cNvPr id="8" name="Text 3"/>
          <p:cNvSpPr>
            <a:spLocks noGrp="1"/>
          </p:cNvSpPr>
          <p:nvPr>
            <p:ph type="body" idx="106" hasCustomPrompt="1"/>
          </p:nvPr>
        </p:nvSpPr>
        <p:spPr>
          <a:xfrm>
            <a:off x="9921240" y="658368"/>
            <a:ext cx="1856232" cy="365760"/>
          </a:xfrm>
          <a:prstGeom prst="rect">
            <a:avLst/>
          </a:prstGeom>
          <a:noFill/>
          <a:ln/>
        </p:spPr>
        <p:txBody>
          <a:bodyPr wrap="square" lIns="0" tIns="27432" rIns="0" bIns="0" rtlCol="0" anchor="t">
            <a:noAutofit/>
          </a:bodyPr>
          <a:lstStyle>
            <a:lvl1pPr marL="0" indent="0">
              <a:buNone/>
              <a:defRPr lang="en-US" sz="1600" b="1" dirty="0">
                <a:solidFill>
                  <a:srgbClr val="2E8A80"/>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e.g. COMPILER</a:t>
            </a:r>
            <a:endParaRPr lang="en-US" sz="1600" dirty="0"/>
          </a:p>
        </p:txBody>
      </p:sp>
      <p:sp>
        <p:nvSpPr>
          <p:cNvPr id="9" name="Text 3"/>
          <p:cNvSpPr/>
          <p:nvPr/>
        </p:nvSpPr>
        <p:spPr>
          <a:xfrm>
            <a:off x="8823960" y="109728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STATUS</a:t>
            </a:r>
            <a:endParaRPr lang="en-US" sz="1000" dirty="0"/>
          </a:p>
        </p:txBody>
      </p:sp>
      <p:sp>
        <p:nvSpPr>
          <p:cNvPr id="11" name="Shape 4"/>
          <p:cNvSpPr/>
          <p:nvPr/>
        </p:nvSpPr>
        <p:spPr>
          <a:xfrm>
            <a:off x="411480" y="1499616"/>
            <a:ext cx="11365992" cy="0"/>
          </a:xfrm>
          <a:prstGeom prst="line">
            <a:avLst/>
          </a:prstGeom>
          <a:noFill/>
          <a:ln w="9525">
            <a:solidFill>
              <a:srgbClr val="C9CED6"/>
            </a:solidFill>
            <a:prstDash val="solid"/>
          </a:ln>
        </p:spPr>
        <p:txBody>
          <a:bodyPr/>
          <a:lstStyle/>
          <a:p>
            <a:endParaRPr lang="en-US"/>
          </a:p>
        </p:txBody>
      </p:sp>
      <p:sp>
        <p:nvSpPr>
          <p:cNvPr id="12" name="Text 5"/>
          <p:cNvSpPr/>
          <p:nvPr/>
        </p:nvSpPr>
        <p:spPr>
          <a:xfrm>
            <a:off x="41148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1</a:t>
            </a:r>
            <a:endParaRPr lang="en-US" sz="1400" dirty="0"/>
          </a:p>
        </p:txBody>
      </p:sp>
      <p:sp>
        <p:nvSpPr>
          <p:cNvPr id="13" name="Text 6"/>
          <p:cNvSpPr/>
          <p:nvPr/>
        </p:nvSpPr>
        <p:spPr>
          <a:xfrm>
            <a:off x="667512" y="1600200"/>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The decision</a:t>
            </a:r>
            <a:endParaRPr lang="en-US" sz="1400" dirty="0"/>
          </a:p>
        </p:txBody>
      </p:sp>
      <p:sp>
        <p:nvSpPr>
          <p:cNvPr id="14" name="Text 7"/>
          <p:cNvSpPr>
            <a:spLocks noGrp="1"/>
          </p:cNvSpPr>
          <p:nvPr>
            <p:ph type="body" idx="112" hasCustomPrompt="1"/>
          </p:nvPr>
        </p:nvSpPr>
        <p:spPr>
          <a:xfrm>
            <a:off x="411480" y="1892808"/>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What does the system decide today, who decides it, and what does a bad decision cost? Max 25 words.</a:t>
            </a:r>
            <a:endParaRPr lang="en-US" sz="1400" dirty="0"/>
          </a:p>
        </p:txBody>
      </p:sp>
      <p:sp>
        <p:nvSpPr>
          <p:cNvPr id="15" name="Text 7"/>
          <p:cNvSpPr/>
          <p:nvPr/>
        </p:nvSpPr>
        <p:spPr>
          <a:xfrm>
            <a:off x="411480" y="2990088"/>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2</a:t>
            </a:r>
            <a:endParaRPr lang="en-US" sz="1400" dirty="0"/>
          </a:p>
        </p:txBody>
      </p:sp>
      <p:sp>
        <p:nvSpPr>
          <p:cNvPr id="16" name="Text 8"/>
          <p:cNvSpPr/>
          <p:nvPr/>
        </p:nvSpPr>
        <p:spPr>
          <a:xfrm>
            <a:off x="667512" y="2990088"/>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Beat what, exactly?</a:t>
            </a:r>
            <a:endParaRPr lang="en-US" sz="1400" dirty="0"/>
          </a:p>
        </p:txBody>
      </p:sp>
      <p:sp>
        <p:nvSpPr>
          <p:cNvPr id="17" name="Text 9"/>
          <p:cNvSpPr>
            <a:spLocks noGrp="1"/>
          </p:cNvSpPr>
          <p:nvPr>
            <p:ph type="body" idx="115" hasCustomPrompt="1"/>
          </p:nvPr>
        </p:nvSpPr>
        <p:spPr>
          <a:xfrm>
            <a:off x="411480" y="3282696"/>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baseline you must beat, where it comes from, how hard you tuned it, and its number. Max 25 words.</a:t>
            </a:r>
            <a:endParaRPr lang="en-US" sz="1400" dirty="0"/>
          </a:p>
        </p:txBody>
      </p:sp>
      <p:sp>
        <p:nvSpPr>
          <p:cNvPr id="18" name="Text 9"/>
          <p:cNvSpPr/>
          <p:nvPr/>
        </p:nvSpPr>
        <p:spPr>
          <a:xfrm>
            <a:off x="411480" y="4379976"/>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3</a:t>
            </a:r>
            <a:endParaRPr lang="en-US" sz="1400" dirty="0"/>
          </a:p>
        </p:txBody>
      </p:sp>
      <p:sp>
        <p:nvSpPr>
          <p:cNvPr id="19" name="Text 10"/>
          <p:cNvSpPr/>
          <p:nvPr/>
        </p:nvSpPr>
        <p:spPr>
          <a:xfrm>
            <a:off x="667512" y="4379976"/>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Our approach</a:t>
            </a:r>
            <a:endParaRPr lang="en-US" sz="1400" dirty="0"/>
          </a:p>
        </p:txBody>
      </p:sp>
      <p:sp>
        <p:nvSpPr>
          <p:cNvPr id="20" name="Text 11"/>
          <p:cNvSpPr>
            <a:spLocks noGrp="1"/>
          </p:cNvSpPr>
          <p:nvPr>
            <p:ph type="body" idx="118" hasCustomPrompt="1"/>
          </p:nvPr>
        </p:nvSpPr>
        <p:spPr>
          <a:xfrm>
            <a:off x="411480" y="4672584"/>
            <a:ext cx="3520440" cy="1133856"/>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Model, its inputs, where the labels come from, and the cost of one inference. Max 30 words.</a:t>
            </a:r>
            <a:endParaRPr lang="en-US" sz="1400" dirty="0"/>
          </a:p>
        </p:txBody>
      </p:sp>
      <p:sp>
        <p:nvSpPr>
          <p:cNvPr id="21" name="Text 11"/>
          <p:cNvSpPr/>
          <p:nvPr/>
        </p:nvSpPr>
        <p:spPr>
          <a:xfrm>
            <a:off x="420624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4</a:t>
            </a:r>
            <a:endParaRPr lang="en-US" sz="1400" dirty="0"/>
          </a:p>
        </p:txBody>
      </p:sp>
      <p:sp>
        <p:nvSpPr>
          <p:cNvPr id="22" name="Text 12"/>
          <p:cNvSpPr/>
          <p:nvPr/>
        </p:nvSpPr>
        <p:spPr>
          <a:xfrm>
            <a:off x="4462272" y="1600200"/>
            <a:ext cx="39502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First result</a:t>
            </a:r>
            <a:endParaRPr lang="en-US" sz="1400" dirty="0"/>
          </a:p>
        </p:txBody>
      </p:sp>
      <p:sp>
        <p:nvSpPr>
          <p:cNvPr id="23" name="Shape 13"/>
          <p:cNvSpPr/>
          <p:nvPr/>
        </p:nvSpPr>
        <p:spPr>
          <a:xfrm>
            <a:off x="4206240" y="1892808"/>
            <a:ext cx="4206240" cy="2606040"/>
          </a:xfrm>
          <a:prstGeom prst="rect">
            <a:avLst/>
          </a:prstGeom>
          <a:ln w="9525">
            <a:solidFill>
              <a:srgbClr val="C9CED6"/>
            </a:solidFill>
            <a:prstDash val="solid"/>
          </a:ln>
        </p:spPr>
        <p:txBody>
          <a:bodyPr/>
          <a:lstStyle/>
          <a:p>
            <a:endParaRPr lang="en-US"/>
          </a:p>
        </p:txBody>
      </p:sp>
      <p:sp>
        <p:nvSpPr>
          <p:cNvPr id="24" name="Text 14"/>
          <p:cNvSpPr>
            <a:spLocks noGrp="1"/>
          </p:cNvSpPr>
          <p:nvPr>
            <p:ph type="pic" idx="122" hasCustomPrompt="1"/>
          </p:nvPr>
        </p:nvSpPr>
        <p:spPr>
          <a:xfrm>
            <a:off x="4206240" y="1892808"/>
            <a:ext cx="4206240" cy="2606040"/>
          </a:xfrm>
          <a:prstGeom prst="rect">
            <a:avLst/>
          </a:prstGeom>
          <a:noFill/>
          <a:ln/>
        </p:spPr>
        <p:txBody>
          <a:bodyPr wrap="square" lIns="91440" tIns="91440" rIns="91440" bIns="91440" rtlCol="0" anchor="ctr">
            <a:noAutofit/>
          </a:bodyPr>
          <a:lstStyle>
            <a:lvl1pPr marL="0" indent="0" algn="ctr">
              <a:buNone/>
              <a:defRPr lang="en-US" sz="1400" dirty="0">
                <a:solidFill>
                  <a:srgbClr val="6B7280"/>
                </a:solidFill>
                <a:latin typeface="Arial" pitchFamily="34" charset="0"/>
                <a:ea typeface="Arial" pitchFamily="34" charset="-122"/>
                <a:cs typeface="Arial" pitchFamily="34" charset="-120"/>
              </a:defRPr>
            </a:lvl1pPr>
          </a:lstStyle>
          <a:p>
            <a:pPr marL="0" indent="0" algn="ctr">
              <a:buNone/>
            </a:pPr>
            <a:r>
              <a:rPr lang="en-US" sz="1400" i="1" dirty="0">
                <a:solidFill>
                  <a:srgbClr val="9AA0A6"/>
                </a:solidFill>
                <a:latin typeface="Arial" pitchFamily="34" charset="0"/>
                <a:ea typeface="Arial" pitchFamily="34" charset="-122"/>
                <a:cs typeface="Arial" pitchFamily="34" charset="-120"/>
              </a:rPr>
              <a:t>Insert ONE plot. Label both axes. Put the baseline on the same axes. Or table or text is also fine</a:t>
            </a:r>
            <a:endParaRPr lang="en-US" sz="1400" dirty="0"/>
          </a:p>
        </p:txBody>
      </p:sp>
      <p:sp>
        <p:nvSpPr>
          <p:cNvPr id="25" name="Text 14"/>
          <p:cNvSpPr>
            <a:spLocks noGrp="1"/>
          </p:cNvSpPr>
          <p:nvPr>
            <p:ph type="body" idx="123" hasCustomPrompt="1"/>
          </p:nvPr>
        </p:nvSpPr>
        <p:spPr>
          <a:xfrm>
            <a:off x="4206240" y="4590288"/>
            <a:ext cx="4206240" cy="603504"/>
          </a:xfrm>
          <a:prstGeom prst="rect">
            <a:avLst/>
          </a:prstGeom>
          <a:noFill/>
          <a:ln/>
        </p:spPr>
        <p:txBody>
          <a:bodyPr wrap="square" lIns="0" tIns="27432" rIns="0" bIns="0" rtlCol="0" anchor="t">
            <a:noAutofit/>
          </a:bodyPr>
          <a:lstStyle>
            <a:lvl1pPr marL="0" indent="0">
              <a:buNone/>
              <a:defRPr lang="en-US" sz="1600" b="1" dirty="0">
                <a:solidFill>
                  <a:srgbClr val="1C3557"/>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One sentence, one number: what the plot/result shows</a:t>
            </a:r>
            <a:endParaRPr lang="en-US" sz="1600" dirty="0"/>
          </a:p>
        </p:txBody>
      </p:sp>
      <p:sp>
        <p:nvSpPr>
          <p:cNvPr id="26" name="Text 14"/>
          <p:cNvSpPr>
            <a:spLocks noGrp="1"/>
          </p:cNvSpPr>
          <p:nvPr>
            <p:ph type="body" idx="124" hasCustomPrompt="1"/>
          </p:nvPr>
        </p:nvSpPr>
        <p:spPr>
          <a:xfrm>
            <a:off x="4206240" y="5230368"/>
            <a:ext cx="4206240" cy="576072"/>
          </a:xfrm>
          <a:prstGeom prst="rect">
            <a:avLst/>
          </a:prstGeom>
          <a:noFill/>
          <a:ln/>
        </p:spPr>
        <p:txBody>
          <a:bodyPr wrap="square" lIns="0" tIns="27432" rIns="0" bIns="0" rtlCol="0" anchor="t">
            <a:noAutofit/>
          </a:bodyPr>
          <a:lstStyle>
            <a:lvl1pPr marL="0" indent="0">
              <a:buNone/>
              <a:defRPr lang="en-US" sz="1200" dirty="0">
                <a:solidFill>
                  <a:srgbClr val="6B7280"/>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Measured on: machine, inputs, warm-up, median of N runs, spread. Max 20 words.</a:t>
            </a:r>
            <a:endParaRPr lang="en-US" sz="1200" dirty="0"/>
          </a:p>
        </p:txBody>
      </p:sp>
      <p:sp>
        <p:nvSpPr>
          <p:cNvPr id="27" name="Text 14"/>
          <p:cNvSpPr/>
          <p:nvPr/>
        </p:nvSpPr>
        <p:spPr>
          <a:xfrm>
            <a:off x="8686800" y="2005153"/>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5</a:t>
            </a:r>
            <a:endParaRPr lang="en-US" sz="1400" dirty="0"/>
          </a:p>
        </p:txBody>
      </p:sp>
      <p:sp>
        <p:nvSpPr>
          <p:cNvPr id="28" name="Text 15"/>
          <p:cNvSpPr/>
          <p:nvPr/>
        </p:nvSpPr>
        <p:spPr>
          <a:xfrm>
            <a:off x="8942832" y="2005153"/>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What broke or surprised us</a:t>
            </a:r>
            <a:endParaRPr lang="en-US" sz="1400" dirty="0"/>
          </a:p>
        </p:txBody>
      </p:sp>
      <p:sp>
        <p:nvSpPr>
          <p:cNvPr id="29" name="Text 16"/>
          <p:cNvSpPr>
            <a:spLocks noGrp="1"/>
          </p:cNvSpPr>
          <p:nvPr>
            <p:ph type="body" idx="127" hasCustomPrompt="1"/>
          </p:nvPr>
        </p:nvSpPr>
        <p:spPr>
          <a:xfrm>
            <a:off x="8686800" y="2297760"/>
            <a:ext cx="3090672" cy="1725599"/>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One thing that failed, did not reproduce, or surprised you, and what it taught you. Max 40 words.</a:t>
            </a:r>
            <a:endParaRPr lang="en-US" sz="1400" dirty="0"/>
          </a:p>
        </p:txBody>
      </p:sp>
      <p:sp>
        <p:nvSpPr>
          <p:cNvPr id="30" name="Text 16"/>
          <p:cNvSpPr/>
          <p:nvPr/>
        </p:nvSpPr>
        <p:spPr>
          <a:xfrm>
            <a:off x="8686800" y="436169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6</a:t>
            </a:r>
            <a:endParaRPr lang="en-US" sz="1400" dirty="0"/>
          </a:p>
        </p:txBody>
      </p:sp>
      <p:sp>
        <p:nvSpPr>
          <p:cNvPr id="31" name="Text 17"/>
          <p:cNvSpPr/>
          <p:nvPr/>
        </p:nvSpPr>
        <p:spPr>
          <a:xfrm>
            <a:off x="8942832" y="4361690"/>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Next six weeks</a:t>
            </a:r>
            <a:endParaRPr lang="en-US" sz="1400" dirty="0"/>
          </a:p>
        </p:txBody>
      </p:sp>
      <p:sp>
        <p:nvSpPr>
          <p:cNvPr id="32" name="Text 18"/>
          <p:cNvSpPr>
            <a:spLocks noGrp="1"/>
          </p:cNvSpPr>
          <p:nvPr>
            <p:ph type="body" idx="130" hasCustomPrompt="1"/>
          </p:nvPr>
        </p:nvSpPr>
        <p:spPr>
          <a:xfrm>
            <a:off x="8686800" y="4654298"/>
            <a:ext cx="3090672"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experiment that decides the project, the biggest risk, and your fallback. Max 20 words.</a:t>
            </a:r>
            <a:endParaRPr lang="en-US" sz="1400" dirty="0"/>
          </a:p>
        </p:txBody>
      </p:sp>
      <p:sp>
        <p:nvSpPr>
          <p:cNvPr id="37" name="Shape 21"/>
          <p:cNvSpPr/>
          <p:nvPr/>
        </p:nvSpPr>
        <p:spPr>
          <a:xfrm>
            <a:off x="411480" y="5943600"/>
            <a:ext cx="11365992" cy="0"/>
          </a:xfrm>
          <a:prstGeom prst="line">
            <a:avLst/>
          </a:prstGeom>
          <a:noFill/>
          <a:ln w="9525">
            <a:solidFill>
              <a:srgbClr val="C9CED6"/>
            </a:solidFill>
            <a:prstDash val="solid"/>
          </a:ln>
        </p:spPr>
        <p:txBody>
          <a:bodyPr/>
          <a:lstStyle/>
          <a:p>
            <a:endParaRPr lang="en-US"/>
          </a:p>
        </p:txBody>
      </p:sp>
      <p:sp>
        <p:nvSpPr>
          <p:cNvPr id="38" name="Text 22"/>
          <p:cNvSpPr/>
          <p:nvPr/>
        </p:nvSpPr>
        <p:spPr>
          <a:xfrm>
            <a:off x="411480" y="6053328"/>
            <a:ext cx="1280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GATE CHECK</a:t>
            </a:r>
            <a:endParaRPr lang="en-US" sz="1000" dirty="0"/>
          </a:p>
        </p:txBody>
      </p:sp>
      <p:sp>
        <p:nvSpPr>
          <p:cNvPr id="39" name="Text 23"/>
          <p:cNvSpPr/>
          <p:nvPr/>
        </p:nvSpPr>
        <p:spPr>
          <a:xfrm>
            <a:off x="411480" y="6254496"/>
            <a:ext cx="1280160" cy="201168"/>
          </a:xfrm>
          <a:prstGeom prst="rect">
            <a:avLst/>
          </a:prstGeom>
          <a:noFill/>
          <a:ln/>
        </p:spPr>
        <p:txBody>
          <a:bodyPr wrap="square" lIns="0" tIns="0" rIns="0" bIns="0" rtlCol="0" anchor="t"/>
          <a:lstStyle/>
          <a:p>
            <a:pPr marL="0" indent="0">
              <a:buNone/>
            </a:pPr>
            <a:r>
              <a:rPr lang="en-US" sz="1000" dirty="0">
                <a:solidFill>
                  <a:srgbClr val="6B7280"/>
                </a:solidFill>
                <a:latin typeface="Arial" pitchFamily="34" charset="0"/>
                <a:ea typeface="Arial" pitchFamily="34" charset="-122"/>
                <a:cs typeface="Arial" pitchFamily="34" charset="-120"/>
              </a:rPr>
              <a:t>the five constraints</a:t>
            </a:r>
            <a:endParaRPr lang="en-US" sz="1000" dirty="0"/>
          </a:p>
        </p:txBody>
      </p:sp>
      <p:sp>
        <p:nvSpPr>
          <p:cNvPr id="40" name="Text 24"/>
          <p:cNvSpPr/>
          <p:nvPr/>
        </p:nvSpPr>
        <p:spPr>
          <a:xfrm>
            <a:off x="1783080"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Safe when wrong</a:t>
            </a:r>
            <a:endParaRPr lang="en-US" sz="1100" dirty="0"/>
          </a:p>
        </p:txBody>
      </p:sp>
      <p:sp>
        <p:nvSpPr>
          <p:cNvPr id="41" name="Text 25"/>
          <p:cNvSpPr>
            <a:spLocks noGrp="1"/>
          </p:cNvSpPr>
          <p:nvPr>
            <p:ph type="body" idx="139" hasCustomPrompt="1"/>
          </p:nvPr>
        </p:nvSpPr>
        <p:spPr>
          <a:xfrm>
            <a:off x="1783080"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2" name="Text 25"/>
          <p:cNvSpPr/>
          <p:nvPr/>
        </p:nvSpPr>
        <p:spPr>
          <a:xfrm>
            <a:off x="3803904"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Labels affordable</a:t>
            </a:r>
            <a:endParaRPr lang="en-US" sz="1100" dirty="0"/>
          </a:p>
        </p:txBody>
      </p:sp>
      <p:sp>
        <p:nvSpPr>
          <p:cNvPr id="43" name="Text 26"/>
          <p:cNvSpPr>
            <a:spLocks noGrp="1"/>
          </p:cNvSpPr>
          <p:nvPr>
            <p:ph type="body" idx="141" hasCustomPrompt="1"/>
          </p:nvPr>
        </p:nvSpPr>
        <p:spPr>
          <a:xfrm>
            <a:off x="3803904"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4" name="Text 26"/>
          <p:cNvSpPr/>
          <p:nvPr/>
        </p:nvSpPr>
        <p:spPr>
          <a:xfrm>
            <a:off x="5824728"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Fits the budget</a:t>
            </a:r>
            <a:endParaRPr lang="en-US" sz="1100" dirty="0"/>
          </a:p>
        </p:txBody>
      </p:sp>
      <p:sp>
        <p:nvSpPr>
          <p:cNvPr id="45" name="Text 27"/>
          <p:cNvSpPr>
            <a:spLocks noGrp="1"/>
          </p:cNvSpPr>
          <p:nvPr>
            <p:ph type="body" idx="143" hasCustomPrompt="1"/>
          </p:nvPr>
        </p:nvSpPr>
        <p:spPr>
          <a:xfrm>
            <a:off x="5824728"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6" name="Text 27"/>
          <p:cNvSpPr/>
          <p:nvPr/>
        </p:nvSpPr>
        <p:spPr>
          <a:xfrm>
            <a:off x="7845552"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Beats a tuned baseline</a:t>
            </a:r>
            <a:endParaRPr lang="en-US" sz="1100" dirty="0"/>
          </a:p>
        </p:txBody>
      </p:sp>
      <p:sp>
        <p:nvSpPr>
          <p:cNvPr id="47" name="Text 28"/>
          <p:cNvSpPr>
            <a:spLocks noGrp="1"/>
          </p:cNvSpPr>
          <p:nvPr>
            <p:ph type="body" idx="145" hasCustomPrompt="1"/>
          </p:nvPr>
        </p:nvSpPr>
        <p:spPr>
          <a:xfrm>
            <a:off x="7845552"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8" name="Text 28"/>
          <p:cNvSpPr/>
          <p:nvPr/>
        </p:nvSpPr>
        <p:spPr>
          <a:xfrm>
            <a:off x="9866376"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Survives a new workload</a:t>
            </a:r>
            <a:endParaRPr lang="en-US" sz="1100" dirty="0"/>
          </a:p>
        </p:txBody>
      </p:sp>
      <p:sp>
        <p:nvSpPr>
          <p:cNvPr id="49" name="Text 29"/>
          <p:cNvSpPr>
            <a:spLocks noGrp="1"/>
          </p:cNvSpPr>
          <p:nvPr>
            <p:ph type="body" idx="147" hasCustomPrompt="1"/>
          </p:nvPr>
        </p:nvSpPr>
        <p:spPr>
          <a:xfrm>
            <a:off x="9866376"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a:spLocks noGrp="1"/>
          </p:cNvSpPr>
          <p:nvPr>
            <p:ph type="body" idx="101" hasCustomPrompt="1"/>
          </p:nvPr>
        </p:nvSpPr>
        <p:spPr/>
        <p:txBody>
          <a:bodyPr>
            <a:noAutofit/>
          </a:bodyPr>
          <a:lstStyle/>
          <a:p>
            <a:pPr marL="0" indent="0">
              <a:buNone/>
            </a:pPr>
            <a:r>
              <a:rPr lang="en-US" dirty="0"/>
              <a:t>Project Title</a:t>
            </a:r>
          </a:p>
        </p:txBody>
      </p:sp>
      <p:sp>
        <p:nvSpPr>
          <p:cNvPr id="5" name="Text 3"/>
          <p:cNvSpPr>
            <a:spLocks noGrp="1"/>
          </p:cNvSpPr>
          <p:nvPr>
            <p:ph type="body" idx="105" hasCustomPrompt="1"/>
          </p:nvPr>
        </p:nvSpPr>
        <p:spPr/>
        <p:txBody>
          <a:bodyPr>
            <a:noAutofit/>
          </a:bodyPr>
          <a:lstStyle/>
          <a:p>
            <a:pPr marL="0" indent="0">
              <a:buNone/>
            </a:pPr>
            <a:endParaRPr lang="en-US" dirty="0"/>
          </a:p>
        </p:txBody>
      </p:sp>
      <p:sp>
        <p:nvSpPr>
          <p:cNvPr id="6" name="Text 3"/>
          <p:cNvSpPr>
            <a:spLocks noGrp="1"/>
          </p:cNvSpPr>
          <p:nvPr>
            <p:ph type="body" idx="106" hasCustomPrompt="1"/>
          </p:nvPr>
        </p:nvSpPr>
        <p:spPr/>
        <p:txBody>
          <a:bodyPr>
            <a:noAutofit/>
          </a:bodyPr>
          <a:lstStyle/>
          <a:p>
            <a:pPr marL="0" indent="0">
              <a:buNone/>
            </a:pPr>
            <a:endParaRPr lang="en-US" dirty="0"/>
          </a:p>
        </p:txBody>
      </p:sp>
      <p:sp>
        <p:nvSpPr>
          <p:cNvPr id="7" name="Text 4"/>
          <p:cNvSpPr>
            <a:spLocks noGrp="1"/>
          </p:cNvSpPr>
          <p:nvPr>
            <p:ph type="body" idx="4294967295" hasCustomPrompt="1"/>
          </p:nvPr>
        </p:nvSpPr>
        <p:spPr>
          <a:xfrm>
            <a:off x="9921240" y="1051560"/>
            <a:ext cx="1856232" cy="292608"/>
          </a:xfrm>
          <a:prstGeom prst="rect">
            <a:avLst/>
          </a:prstGeom>
        </p:spPr>
        <p:txBody>
          <a:bodyPr>
            <a:noAutofit/>
          </a:bodyPr>
          <a:lstStyle/>
          <a:p>
            <a:pPr marL="0" indent="0">
              <a:buNone/>
            </a:pPr>
            <a:endParaRPr lang="en-US" dirty="0"/>
          </a:p>
        </p:txBody>
      </p:sp>
      <p:sp>
        <p:nvSpPr>
          <p:cNvPr id="8" name="Text 7"/>
          <p:cNvSpPr>
            <a:spLocks noGrp="1"/>
          </p:cNvSpPr>
          <p:nvPr>
            <p:ph type="body" idx="112" hasCustomPrompt="1"/>
          </p:nvPr>
        </p:nvSpPr>
        <p:spPr/>
        <p:txBody>
          <a:bodyPr>
            <a:noAutofit/>
          </a:bodyPr>
          <a:lstStyle/>
          <a:p>
            <a:pPr marL="0" indent="0">
              <a:buNone/>
            </a:pPr>
            <a:endParaRPr lang="en-US" dirty="0"/>
          </a:p>
        </p:txBody>
      </p:sp>
      <p:sp>
        <p:nvSpPr>
          <p:cNvPr id="9" name="Text 9"/>
          <p:cNvSpPr>
            <a:spLocks noGrp="1"/>
          </p:cNvSpPr>
          <p:nvPr>
            <p:ph type="body" idx="115" hasCustomPrompt="1"/>
          </p:nvPr>
        </p:nvSpPr>
        <p:spPr/>
        <p:txBody>
          <a:bodyPr>
            <a:noAutofit/>
          </a:bodyPr>
          <a:lstStyle/>
          <a:p>
            <a:pPr marL="0" indent="0">
              <a:buNone/>
            </a:pPr>
            <a:endParaRPr lang="en-US" dirty="0"/>
          </a:p>
        </p:txBody>
      </p:sp>
      <p:sp>
        <p:nvSpPr>
          <p:cNvPr id="10" name="Text 11"/>
          <p:cNvSpPr>
            <a:spLocks noGrp="1"/>
          </p:cNvSpPr>
          <p:nvPr>
            <p:ph type="body" idx="118" hasCustomPrompt="1"/>
          </p:nvPr>
        </p:nvSpPr>
        <p:spPr/>
        <p:txBody>
          <a:bodyPr>
            <a:noAutofit/>
          </a:bodyPr>
          <a:lstStyle/>
          <a:p>
            <a:pPr marL="0" indent="0">
              <a:buNone/>
            </a:pPr>
            <a:endParaRPr lang="en-US" dirty="0"/>
          </a:p>
        </p:txBody>
      </p:sp>
      <p:sp>
        <p:nvSpPr>
          <p:cNvPr id="11" name="Text 14"/>
          <p:cNvSpPr>
            <a:spLocks noGrp="1"/>
          </p:cNvSpPr>
          <p:nvPr>
            <p:ph type="pic" idx="122" hasCustomPrompt="1"/>
          </p:nvPr>
        </p:nvSpPr>
        <p:spPr/>
        <p:txBody>
          <a:bodyPr>
            <a:noAutofit/>
          </a:bodyPr>
          <a:lstStyle/>
          <a:p>
            <a:pPr marL="0" indent="0" algn="ctr">
              <a:buNone/>
            </a:pPr>
            <a:endParaRPr lang="en-US" dirty="0"/>
          </a:p>
        </p:txBody>
      </p:sp>
      <p:sp>
        <p:nvSpPr>
          <p:cNvPr id="12" name="Text 14"/>
          <p:cNvSpPr>
            <a:spLocks noGrp="1"/>
          </p:cNvSpPr>
          <p:nvPr>
            <p:ph type="body" idx="123" hasCustomPrompt="1"/>
          </p:nvPr>
        </p:nvSpPr>
        <p:spPr/>
        <p:txBody>
          <a:bodyPr>
            <a:noAutofit/>
          </a:bodyPr>
          <a:lstStyle/>
          <a:p>
            <a:pPr marL="0" indent="0">
              <a:buNone/>
            </a:pPr>
            <a:endParaRPr lang="en-US" dirty="0"/>
          </a:p>
        </p:txBody>
      </p:sp>
      <p:sp>
        <p:nvSpPr>
          <p:cNvPr id="13" name="Text 14"/>
          <p:cNvSpPr>
            <a:spLocks noGrp="1"/>
          </p:cNvSpPr>
          <p:nvPr>
            <p:ph type="body" idx="124" hasCustomPrompt="1"/>
          </p:nvPr>
        </p:nvSpPr>
        <p:spPr/>
        <p:txBody>
          <a:bodyPr>
            <a:noAutofit/>
          </a:bodyPr>
          <a:lstStyle/>
          <a:p>
            <a:pPr marL="0" indent="0">
              <a:buNone/>
            </a:pPr>
            <a:endParaRPr lang="en-US" dirty="0"/>
          </a:p>
        </p:txBody>
      </p:sp>
      <p:sp>
        <p:nvSpPr>
          <p:cNvPr id="14" name="Text 16"/>
          <p:cNvSpPr>
            <a:spLocks noGrp="1"/>
          </p:cNvSpPr>
          <p:nvPr>
            <p:ph type="body" idx="127" hasCustomPrompt="1"/>
          </p:nvPr>
        </p:nvSpPr>
        <p:spPr/>
        <p:txBody>
          <a:bodyPr>
            <a:noAutofit/>
          </a:bodyPr>
          <a:lstStyle/>
          <a:p>
            <a:pPr marL="0" indent="0">
              <a:buNone/>
            </a:pPr>
            <a:endParaRPr lang="en-US" dirty="0"/>
          </a:p>
        </p:txBody>
      </p:sp>
      <p:sp>
        <p:nvSpPr>
          <p:cNvPr id="15" name="Text 18"/>
          <p:cNvSpPr>
            <a:spLocks noGrp="1"/>
          </p:cNvSpPr>
          <p:nvPr>
            <p:ph type="body" idx="130" hasCustomPrompt="1"/>
          </p:nvPr>
        </p:nvSpPr>
        <p:spPr/>
        <p:txBody>
          <a:bodyPr>
            <a:noAutofit/>
          </a:bodyPr>
          <a:lstStyle/>
          <a:p>
            <a:pPr marL="0" indent="0">
              <a:buNone/>
            </a:pPr>
            <a:endParaRPr lang="en-US" dirty="0"/>
          </a:p>
        </p:txBody>
      </p:sp>
      <p:sp>
        <p:nvSpPr>
          <p:cNvPr id="17" name="Text 25"/>
          <p:cNvSpPr>
            <a:spLocks noGrp="1"/>
          </p:cNvSpPr>
          <p:nvPr>
            <p:ph type="body" idx="139" hasCustomPrompt="1"/>
          </p:nvPr>
        </p:nvSpPr>
        <p:spPr/>
        <p:txBody>
          <a:bodyPr>
            <a:noAutofit/>
          </a:bodyPr>
          <a:lstStyle/>
          <a:p>
            <a:pPr marL="0" indent="0">
              <a:buNone/>
            </a:pPr>
            <a:endParaRPr lang="en-US" dirty="0"/>
          </a:p>
        </p:txBody>
      </p:sp>
      <p:sp>
        <p:nvSpPr>
          <p:cNvPr id="18" name="Text 26"/>
          <p:cNvSpPr>
            <a:spLocks noGrp="1"/>
          </p:cNvSpPr>
          <p:nvPr>
            <p:ph type="body" idx="141" hasCustomPrompt="1"/>
          </p:nvPr>
        </p:nvSpPr>
        <p:spPr/>
        <p:txBody>
          <a:bodyPr>
            <a:noAutofit/>
          </a:bodyPr>
          <a:lstStyle/>
          <a:p>
            <a:pPr marL="0" indent="0">
              <a:buNone/>
            </a:pPr>
            <a:endParaRPr lang="en-US" dirty="0"/>
          </a:p>
        </p:txBody>
      </p:sp>
      <p:sp>
        <p:nvSpPr>
          <p:cNvPr id="19" name="Text 27"/>
          <p:cNvSpPr>
            <a:spLocks noGrp="1"/>
          </p:cNvSpPr>
          <p:nvPr>
            <p:ph type="body" idx="143" hasCustomPrompt="1"/>
          </p:nvPr>
        </p:nvSpPr>
        <p:spPr/>
        <p:txBody>
          <a:bodyPr>
            <a:noAutofit/>
          </a:bodyPr>
          <a:lstStyle/>
          <a:p>
            <a:pPr marL="0" indent="0">
              <a:buNone/>
            </a:pPr>
            <a:endParaRPr lang="en-US" dirty="0"/>
          </a:p>
        </p:txBody>
      </p:sp>
      <p:sp>
        <p:nvSpPr>
          <p:cNvPr id="20" name="Text 28"/>
          <p:cNvSpPr>
            <a:spLocks noGrp="1"/>
          </p:cNvSpPr>
          <p:nvPr>
            <p:ph type="body" idx="145" hasCustomPrompt="1"/>
          </p:nvPr>
        </p:nvSpPr>
        <p:spPr/>
        <p:txBody>
          <a:bodyPr>
            <a:noAutofit/>
          </a:bodyPr>
          <a:lstStyle/>
          <a:p>
            <a:pPr marL="0" indent="0">
              <a:buNone/>
            </a:pPr>
            <a:endParaRPr lang="en-US" dirty="0"/>
          </a:p>
        </p:txBody>
      </p:sp>
      <p:sp>
        <p:nvSpPr>
          <p:cNvPr id="21" name="Text 29"/>
          <p:cNvSpPr>
            <a:spLocks noGrp="1"/>
          </p:cNvSpPr>
          <p:nvPr>
            <p:ph type="body" idx="147" hasCustomPrompt="1"/>
          </p:nvPr>
        </p:nvSpPr>
        <p:spPr/>
        <p:txBody>
          <a:bodyPr>
            <a:noAutofit/>
          </a:bodyPr>
          <a:lstStyle/>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306</Words>
  <Application>Microsoft Macintosh PowerPoint</Application>
  <PresentationFormat>Widescreen</PresentationFormat>
  <Paragraphs>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Courier New</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 4930 Midterm Progress Slide</dc:title>
  <dc:subject>PptxGenJS Presentation</dc:subject>
  <dc:creator>PptxGenJS</dc:creator>
  <cp:lastModifiedBy>Santosh Pandey</cp:lastModifiedBy>
  <cp:revision>7</cp:revision>
  <dcterms:created xsi:type="dcterms:W3CDTF">2026-10-25T13:38:56Z</dcterms:created>
  <dcterms:modified xsi:type="dcterms:W3CDTF">2026-10-25T20:40:11Z</dcterms:modified>
</cp:coreProperties>
</file>