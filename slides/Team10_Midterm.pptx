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37"/>
    <p:restoredTop sz="94610"/>
  </p:normalViewPr>
  <p:slideViewPr>
    <p:cSldViewPr snapToGrid="0" snapToObjects="1">
      <p:cViewPr varScale="1">
        <p:scale>
          <a:sx n="122" d="100"/>
          <a:sy n="122" d="100"/>
        </p:scale>
        <p:origin x="216"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290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 TO USE THIS TEMPLATE (delete nothing on the slide; write your talk script below this block)</a:t>
            </a:r>
          </a:p>
          <a:p>
            <a:endParaRPr lang="en-US"/>
          </a:p>
          <a:p>
            <a:r>
              <a:rPr lang="en-US"/>
              <a:t>1. This is the only slide you present. No title slide, no extra slides, no animations.</a:t>
            </a:r>
          </a:p>
          <a:p>
            <a:r>
              <a:rPr lang="en-US"/>
              <a:t>2. Do not move, resize, or restyle any box, and do not change a font size. The fonts are fixed so the room can read every team at the same size. If your text does not fit, cut words: the box is the word limit.</a:t>
            </a:r>
          </a:p>
          <a:p>
            <a:r>
              <a:rPr lang="en-US"/>
              <a:t>3. Paste as plain text (Ctrl+Shift+V on Windows, Cmd+Shift+Option+V on Mac) so you do not import another font size.</a:t>
            </a:r>
          </a:p>
          <a:p>
            <a:r>
              <a:rPr lang="en-US"/>
              <a:t>4. Box 4 takes exactly one plot. Click the picture icon to insert it. Label both axes and draw the baseline on the same axes.</a:t>
            </a:r>
          </a:p>
          <a:p>
            <a:r>
              <a:rPr lang="en-US"/>
              <a:t>5. Gate check: for each of the five constraints, write yes, unsure, or no, plus a few words of evidence. "Unsure" is an honest and acceptable answer at Week 9.</a:t>
            </a:r>
          </a:p>
          <a:p>
            <a:r>
              <a:rPr lang="en-US"/>
              <a:t>6. Status: on track, at risk, or pivoted. Pivoting is fine if box 5 says why.</a:t>
            </a:r>
          </a:p>
          <a:p>
            <a:endParaRPr lang="en-US"/>
          </a:p>
          <a:p>
            <a:r>
              <a:rPr lang="en-US"/>
              <a:t>TIMING: 6 minutes talking, 4 minutes questions. Spend about half your talk on boxes 4 and 5. End on box 7 and wait for an answer.</a:t>
            </a:r>
          </a:p>
          <a:p>
            <a:endParaRPr lang="en-US"/>
          </a:p>
          <a:p>
            <a:r>
              <a:rPr lang="en-US"/>
              <a:t>SUBMIT: save as TeamNN_Midterm.pptx (two-digit team number) and upload to Canvas by the deadline posted there, so all teams can be merged into one deck.</a:t>
            </a:r>
          </a:p>
          <a:p>
            <a:endParaRPr lang="en-US"/>
          </a:p>
          <a:p>
            <a:r>
              <a:rPr lang="en-US"/>
              <a:t>---- YOUR SCRIPT ----</a:t>
            </a:r>
          </a:p>
          <a:p>
            <a:endParaRPr lang="en-US"/>
          </a:p>
          <a:p>
            <a:r>
              <a:rPr lang="en-US"/>
              <a:t>[0:00–0:45] 1. The decision</a:t>
            </a:r>
          </a:p>
          <a:p>
            <a:r>
              <a:rPr lang="en-US"/>
              <a:t>Our project asks whether a reinforcement learning policy can reuse scheduling knowledge across computation graphs, rather than repeat search for every workload. The two decisions are operator fusion and tiling. Fusion may avoid intermediate memory transfers, while tiling keeps working sets within fast memory. Poor choices can cause unnecessary memory traffic, extra execution steps, or memory failures. This slide reports progress on the data foundation; it does not report a trained scheduling policy.</a:t>
            </a:r>
          </a:p>
          <a:p>
            <a:endParaRPr lang="en-US"/>
          </a:p>
          <a:p>
            <a:r>
              <a:rPr lang="en-US"/>
              <a:t>[0:45–1:15] 2. Beat what, exactly?</a:t>
            </a:r>
          </a:p>
          <a:p>
            <a:r>
              <a:rPr lang="en-US"/>
              <a:t>Our planned performance baselines are a no-fusion scheduler and a greedy-fusion scheduler, evaluated with the same validated analytical cost model. Those baseline implementations, tuning, and latency measurements are still pending. The official graph count in the plot is a data-availability reference, not a scheduler performance baseline.</a:t>
            </a:r>
          </a:p>
          <a:p>
            <a:endParaRPr lang="en-US"/>
          </a:p>
          <a:p>
            <a:r>
              <a:rPr lang="en-US"/>
              <a:t>[1:15–2:00] 3. Our approach</a:t>
            </a:r>
          </a:p>
          <a:p>
            <a:r>
              <a:rPr lang="en-US"/>
              <a:t>We implemented a dependency-free Python generator in synthetic_data. It creates competition-format JSON from reproducible seeds. Its five families are chains, branches, diamonds, MatMul regions, and mixed DAGs. We vary tensor dimensions, operation costs, fast-memory capacity, and bandwidth. MatMul inputs satisfy the inner-dimension equality; Pointwise inputs and outputs have matching shapes. Augmentation keeps topology fixed while scaling shapes and varying costs and hardware. Validation checks the schema, tensor references, unique producers, shapes, acyclicity, and whether a minimal per-operation tiled working set fits. It does not validate a complete schedule or latency.</a:t>
            </a:r>
          </a:p>
          <a:p>
            <a:endParaRPr lang="en-US"/>
          </a:p>
          <a:p>
            <a:r>
              <a:rPr lang="en-US"/>
              <a:t>[2:00–3:35] 4. First result</a:t>
            </a:r>
          </a:p>
          <a:p>
            <a:r>
              <a:rPr lang="en-US"/>
              <a:t>The plot compares the 24 official workloads with the initial batch of 100 newly generated workloads. Both collections pass our structural validator. There are 20 synthetic graphs per family, with observed sizes from 8 to 152 operations. This is an implementation milestone, not evidence that 100 examples are enough for learning or that synthetic graphs match real workloads.</a:t>
            </a:r>
          </a:p>
          <a:p>
            <a:r>
              <a:rPr lang="en-US"/>
              <a:t>The default split uses chains, diamonds, and MatMul graphs for 60 training examples, branches for 20 validation examples, and mixed graphs for 20 test examples. Holding out families is more demanding than randomly splitting parameter variants, although families can still share structural motifs. Fresh generation does not consume the official competition graphs, leaving those available for later transfer evaluation.</a:t>
            </a:r>
          </a:p>
          <a:p>
            <a:r>
              <a:rPr lang="en-US"/>
              <a:t>Every workload is accompanied by a seed, content hash, recorded topology identifier, and split assignment in manifest.json. statistics.csv records graph and tensor characteristics. The generated JSON is ready for a scheduler or RL environment to consume, but it contains no optimal schedule or latency label. We ran a structural validation pass on Darwin arm64; this was not a runtime benchmark, so there is no median timing or spread to report.</a:t>
            </a:r>
          </a:p>
          <a:p>
            <a:endParaRPr lang="en-US"/>
          </a:p>
          <a:p>
            <a:r>
              <a:rPr lang="en-US"/>
              <a:t>[3:35–5:00] 5. What broke or surprised us</a:t>
            </a:r>
          </a:p>
          <a:p>
            <a:r>
              <a:rPr lang="en-US"/>
              <a:t>The proposal assumed feedback from the competition evaluator. The provided mlsys.h declares Evaluate, but this checkout does not supply its implementation. That is a concrete integration risk before RL can receive reliable latency rewards. A third-party evaluator is a candidate for investigation, not something we have already integrated or validated.</a:t>
            </a:r>
          </a:p>
          <a:p>
            <a:r>
              <a:rPr lang="en-US"/>
              <a:t>Another concrete issue was our initial assumption that every declared tensor must be consumed or produced by an operation. Official benchmark 13 includes unused tensors. We removed that overly strict rejection instead of changing the benchmark. All 24 official graphs now pass the remaining structural checks.</a:t>
            </a:r>
          </a:p>
          <a:p>
            <a:r>
              <a:rPr lang="en-US"/>
              <a:t>The larger methodological risk is that generating more graphs does not establish meaningful training diversity or transfer. The sampling choices are configurable synthetic settings, not distributions fitted to the official workloads. We still need real-versus-synthetic feature comparisons, stronger baseline experiments, and held-out real-graph evaluation. Perturbations of a training source must not be treated as independent real test graphs.</a:t>
            </a:r>
          </a:p>
          <a:p>
            <a:endParaRPr lang="en-US"/>
          </a:p>
          <a:p>
            <a:r>
              <a:rPr lang="en-US"/>
              <a:t>[5:00–6:00] 6. Next six weeks and gate check</a:t>
            </a:r>
          </a:p>
          <a:p>
            <a:r>
              <a:rPr lang="en-US"/>
              <a:t>First verify an evaluator against hand-calculated examples and memory constraints. Then implement and tune the no-fusion and greedy-fusion baselines. Integrate the RL environment only once its validity and latency feedback are trustworthy. The deciding experiment is whether learning on synthetic graphs improves scheduling on held-out official graphs with less graph-specific search.</a:t>
            </a:r>
          </a:p>
          <a:p>
            <a:r>
              <a:rPr lang="en-US"/>
              <a:t>We mark the project at risk because evaluator integration and synthetic-to-real transfer are unresolved. A safe heuristic fallback is planned, but it is not implemented. Label affordability and RL compute budget are unverified. We have not beaten a tuned baseline, and new-workload transfer is untested. If end-to-end RL is not feasible, our fallback is to learn heuristic selection from baseline-generated schedules.</a:t>
            </a:r>
          </a:p>
          <a:p>
            <a:endParaRPr lang="en-US"/>
          </a:p>
          <a:p>
            <a:r>
              <a:rPr lang="en-US"/>
              <a:t>Evidence and reproduction</a:t>
            </a:r>
          </a:p>
          <a:p>
            <a:r>
              <a:rPr lang="en-US"/>
              <a:t>Proposal: slides/ML For Systems - Group 10 - Project Proposal - Ver2 (1).pdf.</a:t>
            </a:r>
          </a:p>
          <a:p>
            <a:r>
              <a:rPr lang="en-US"/>
              <a:t>Implementation: synthetic_data/workloads.py and synthetic_data/__main__.py.</a:t>
            </a:r>
          </a:p>
          <a:p>
            <a:r>
              <a:rPr lang="en-US"/>
              <a:t>Dataset: data/generated/synthetic/manifest.json and statistics.csv; seed 4930.</a:t>
            </a:r>
          </a:p>
          <a:p>
            <a:r>
              <a:rPr lang="en-US"/>
              <a:t>Commands run: uv run --no-project python -m synthetic_data validate data/generated/synthetic; uv run --no-project python -m synthetic_data validate benchmarks.</a:t>
            </a:r>
          </a:p>
          <a:p>
            <a:r>
              <a:rPr lang="en-US"/>
              <a:t>To generate a fresh batch: uv run --no-project python -m synthetic_data generate --output data/generated/new-batch --count 100 --seed 4930.</a:t>
            </a:r>
          </a:p>
          <a:p>
            <a:r>
              <a:rPr lang="en-US"/>
              <a:t>No unit tests are included, per the user's request. No RL training, latency benchmark, or baseline speedup is claimed.</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idterm Progress">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37744"/>
            <a:ext cx="8138160" cy="201168"/>
          </a:xfrm>
          <a:prstGeom prst="rect">
            <a:avLst/>
          </a:prstGeom>
          <a:noFill/>
          <a:ln/>
        </p:spPr>
        <p:txBody>
          <a:bodyPr wrap="square" lIns="0" tIns="0" rIns="0" bIns="0" rtlCol="0" anchor="t"/>
          <a:lstStyle/>
          <a:p>
            <a:pPr marL="0" indent="0">
              <a:buNone/>
            </a:pPr>
            <a:r>
              <a:rPr lang="en-US" sz="1000" kern="0" spc="100" dirty="0">
                <a:solidFill>
                  <a:srgbClr val="6B7280"/>
                </a:solidFill>
                <a:latin typeface="Courier New" pitchFamily="34" charset="0"/>
                <a:ea typeface="Courier New" pitchFamily="34" charset="-122"/>
                <a:cs typeface="Courier New" pitchFamily="34" charset="-120"/>
              </a:rPr>
              <a:t>CIS 4930/6930  ML FOR COMPUTER SYSTEMS PROGRESS REPORT</a:t>
            </a:r>
            <a:endParaRPr lang="en-US" sz="1000" dirty="0"/>
          </a:p>
        </p:txBody>
      </p:sp>
      <p:sp>
        <p:nvSpPr>
          <p:cNvPr id="3" name="Text 1"/>
          <p:cNvSpPr>
            <a:spLocks noGrp="1"/>
          </p:cNvSpPr>
          <p:nvPr>
            <p:ph type="body" idx="101" hasCustomPrompt="1"/>
          </p:nvPr>
        </p:nvSpPr>
        <p:spPr>
          <a:xfrm>
            <a:off x="411480" y="420624"/>
            <a:ext cx="8183880" cy="694944"/>
          </a:xfrm>
          <a:prstGeom prst="rect">
            <a:avLst/>
          </a:prstGeom>
          <a:noFill/>
          <a:ln/>
        </p:spPr>
        <p:txBody>
          <a:bodyPr wrap="square" lIns="0" tIns="27432" rIns="0" bIns="0" rtlCol="0" anchor="b">
            <a:noAutofit/>
          </a:bodyPr>
          <a:lstStyle>
            <a:lvl1pPr marL="0" indent="0">
              <a:buNone/>
              <a:defRPr lang="en-US" sz="2200" b="1" dirty="0">
                <a:solidFill>
                  <a:srgbClr val="1C3557"/>
                </a:solidFill>
                <a:latin typeface="Arial" pitchFamily="34" charset="0"/>
                <a:ea typeface="Arial" pitchFamily="34" charset="-122"/>
                <a:cs typeface="Arial" pitchFamily="34" charset="-120"/>
              </a:defRPr>
            </a:lvl1pPr>
          </a:lstStyle>
          <a:p>
            <a:pPr marL="0" indent="0">
              <a:buNone/>
            </a:pPr>
            <a:r>
              <a:rPr lang="en-US" sz="2200" b="1" i="1" dirty="0">
                <a:solidFill>
                  <a:srgbClr val="9AA0A6"/>
                </a:solidFill>
                <a:latin typeface="Arial" pitchFamily="34" charset="0"/>
                <a:ea typeface="Arial" pitchFamily="34" charset="-122"/>
                <a:cs typeface="Arial" pitchFamily="34" charset="-120"/>
              </a:rPr>
              <a:t>Project title</a:t>
            </a:r>
            <a:endParaRPr lang="en-US" sz="2200" dirty="0"/>
          </a:p>
        </p:txBody>
      </p:sp>
      <p:sp>
        <p:nvSpPr>
          <p:cNvPr id="5" name="Text 1"/>
          <p:cNvSpPr/>
          <p:nvPr/>
        </p:nvSpPr>
        <p:spPr>
          <a:xfrm>
            <a:off x="8823960" y="457200"/>
            <a:ext cx="914400" cy="201168"/>
          </a:xfrm>
          <a:prstGeom prst="rect">
            <a:avLst/>
          </a:prstGeom>
          <a:noFill/>
          <a:ln/>
        </p:spPr>
        <p:txBody>
          <a:bodyPr wrap="square" lIns="0" tIns="0" rIns="0" bIns="0" rtlCol="0" anchor="t"/>
          <a:lstStyle/>
          <a:p>
            <a:pPr marL="0" indent="0">
              <a:buNone/>
            </a:pPr>
            <a:r>
              <a:rPr lang="en-US" sz="1000" kern="0" spc="100" dirty="0">
                <a:solidFill>
                  <a:srgbClr val="6B7280"/>
                </a:solidFill>
                <a:latin typeface="Courier New" pitchFamily="34" charset="0"/>
                <a:ea typeface="Courier New" pitchFamily="34" charset="-122"/>
                <a:cs typeface="Courier New" pitchFamily="34" charset="-120"/>
              </a:rPr>
              <a:t>TEAM</a:t>
            </a:r>
            <a:endParaRPr lang="en-US" sz="1000" dirty="0"/>
          </a:p>
        </p:txBody>
      </p:sp>
      <p:sp>
        <p:nvSpPr>
          <p:cNvPr id="6" name="Text 2"/>
          <p:cNvSpPr/>
          <p:nvPr/>
        </p:nvSpPr>
        <p:spPr>
          <a:xfrm>
            <a:off x="9921240" y="457200"/>
            <a:ext cx="1856232" cy="201168"/>
          </a:xfrm>
          <a:prstGeom prst="rect">
            <a:avLst/>
          </a:prstGeom>
          <a:noFill/>
          <a:ln/>
        </p:spPr>
        <p:txBody>
          <a:bodyPr wrap="square" lIns="0" tIns="0" rIns="0" bIns="0" rtlCol="0" anchor="t"/>
          <a:lstStyle/>
          <a:p>
            <a:pPr marL="0" indent="0">
              <a:buNone/>
            </a:pPr>
            <a:r>
              <a:rPr lang="en-US" sz="1000" kern="0" spc="100" dirty="0">
                <a:solidFill>
                  <a:srgbClr val="6B7280"/>
                </a:solidFill>
                <a:latin typeface="Courier New" pitchFamily="34" charset="0"/>
                <a:ea typeface="Courier New" pitchFamily="34" charset="-122"/>
                <a:cs typeface="Courier New" pitchFamily="34" charset="-120"/>
              </a:rPr>
              <a:t>LAYER OF THE STACK</a:t>
            </a:r>
            <a:endParaRPr lang="en-US" sz="1000" dirty="0"/>
          </a:p>
        </p:txBody>
      </p:sp>
      <p:sp>
        <p:nvSpPr>
          <p:cNvPr id="7" name="Text 3"/>
          <p:cNvSpPr>
            <a:spLocks noGrp="1"/>
          </p:cNvSpPr>
          <p:nvPr>
            <p:ph type="body" idx="105" hasCustomPrompt="1"/>
          </p:nvPr>
        </p:nvSpPr>
        <p:spPr>
          <a:xfrm>
            <a:off x="8823960" y="640080"/>
            <a:ext cx="960120" cy="384048"/>
          </a:xfrm>
          <a:prstGeom prst="rect">
            <a:avLst/>
          </a:prstGeom>
          <a:noFill/>
          <a:ln/>
        </p:spPr>
        <p:txBody>
          <a:bodyPr wrap="square" lIns="0" tIns="27432" rIns="0" bIns="0" rtlCol="0" anchor="t">
            <a:noAutofit/>
          </a:bodyPr>
          <a:lstStyle>
            <a:lvl1pPr marL="0" indent="0">
              <a:buNone/>
              <a:defRPr lang="en-US" sz="2200" b="1" dirty="0">
                <a:solidFill>
                  <a:srgbClr val="B5431F"/>
                </a:solidFill>
                <a:latin typeface="Arial" pitchFamily="34" charset="0"/>
                <a:ea typeface="Arial" pitchFamily="34" charset="-122"/>
                <a:cs typeface="Arial" pitchFamily="34" charset="-120"/>
              </a:defRPr>
            </a:lvl1pPr>
          </a:lstStyle>
          <a:p>
            <a:pPr marL="0" indent="0">
              <a:buNone/>
            </a:pPr>
            <a:r>
              <a:rPr lang="en-US" sz="2200" b="1" i="1" dirty="0">
                <a:solidFill>
                  <a:srgbClr val="9AA0A6"/>
                </a:solidFill>
                <a:latin typeface="Arial" pitchFamily="34" charset="0"/>
                <a:ea typeface="Arial" pitchFamily="34" charset="-122"/>
                <a:cs typeface="Arial" pitchFamily="34" charset="-120"/>
              </a:rPr>
              <a:t>00</a:t>
            </a:r>
            <a:endParaRPr lang="en-US" sz="2200" dirty="0"/>
          </a:p>
        </p:txBody>
      </p:sp>
      <p:sp>
        <p:nvSpPr>
          <p:cNvPr id="8" name="Text 3"/>
          <p:cNvSpPr>
            <a:spLocks noGrp="1"/>
          </p:cNvSpPr>
          <p:nvPr>
            <p:ph type="body" idx="106" hasCustomPrompt="1"/>
          </p:nvPr>
        </p:nvSpPr>
        <p:spPr>
          <a:xfrm>
            <a:off x="9921240" y="658368"/>
            <a:ext cx="1856232" cy="365760"/>
          </a:xfrm>
          <a:prstGeom prst="rect">
            <a:avLst/>
          </a:prstGeom>
          <a:noFill/>
          <a:ln/>
        </p:spPr>
        <p:txBody>
          <a:bodyPr wrap="square" lIns="0" tIns="27432" rIns="0" bIns="0" rtlCol="0" anchor="t">
            <a:noAutofit/>
          </a:bodyPr>
          <a:lstStyle>
            <a:lvl1pPr marL="0" indent="0">
              <a:buNone/>
              <a:defRPr lang="en-US" sz="1600" b="1" dirty="0">
                <a:solidFill>
                  <a:srgbClr val="2E8A80"/>
                </a:solidFill>
                <a:latin typeface="Arial" pitchFamily="34" charset="0"/>
                <a:ea typeface="Arial" pitchFamily="34" charset="-122"/>
                <a:cs typeface="Arial" pitchFamily="34" charset="-120"/>
              </a:defRPr>
            </a:lvl1pPr>
          </a:lstStyle>
          <a:p>
            <a:pPr marL="0" indent="0">
              <a:buNone/>
            </a:pPr>
            <a:r>
              <a:rPr lang="en-US" sz="1600" b="1" i="1" dirty="0">
                <a:solidFill>
                  <a:srgbClr val="9AA0A6"/>
                </a:solidFill>
                <a:latin typeface="Arial" pitchFamily="34" charset="0"/>
                <a:ea typeface="Arial" pitchFamily="34" charset="-122"/>
                <a:cs typeface="Arial" pitchFamily="34" charset="-120"/>
              </a:rPr>
              <a:t>e.g. COMPILER</a:t>
            </a:r>
            <a:endParaRPr lang="en-US" sz="1600" dirty="0"/>
          </a:p>
        </p:txBody>
      </p:sp>
      <p:sp>
        <p:nvSpPr>
          <p:cNvPr id="9" name="Text 3"/>
          <p:cNvSpPr/>
          <p:nvPr/>
        </p:nvSpPr>
        <p:spPr>
          <a:xfrm>
            <a:off x="8823960" y="1097280"/>
            <a:ext cx="914400" cy="201168"/>
          </a:xfrm>
          <a:prstGeom prst="rect">
            <a:avLst/>
          </a:prstGeom>
          <a:noFill/>
          <a:ln/>
        </p:spPr>
        <p:txBody>
          <a:bodyPr wrap="square" lIns="0" tIns="0" rIns="0" bIns="0" rtlCol="0" anchor="t"/>
          <a:lstStyle/>
          <a:p>
            <a:pPr marL="0" indent="0">
              <a:buNone/>
            </a:pPr>
            <a:r>
              <a:rPr lang="en-US" sz="1000" kern="0" spc="100" dirty="0">
                <a:solidFill>
                  <a:srgbClr val="6B7280"/>
                </a:solidFill>
                <a:latin typeface="Courier New" pitchFamily="34" charset="0"/>
                <a:ea typeface="Courier New" pitchFamily="34" charset="-122"/>
                <a:cs typeface="Courier New" pitchFamily="34" charset="-120"/>
              </a:rPr>
              <a:t>STATUS</a:t>
            </a:r>
            <a:endParaRPr lang="en-US" sz="1000" dirty="0"/>
          </a:p>
        </p:txBody>
      </p:sp>
      <p:sp>
        <p:nvSpPr>
          <p:cNvPr id="11" name="Shape 4"/>
          <p:cNvSpPr/>
          <p:nvPr/>
        </p:nvSpPr>
        <p:spPr>
          <a:xfrm>
            <a:off x="411480" y="1499616"/>
            <a:ext cx="11365992" cy="0"/>
          </a:xfrm>
          <a:prstGeom prst="line">
            <a:avLst/>
          </a:prstGeom>
          <a:noFill/>
          <a:ln w="9525">
            <a:solidFill>
              <a:srgbClr val="C9CED6"/>
            </a:solidFill>
            <a:prstDash val="solid"/>
          </a:ln>
        </p:spPr>
        <p:txBody>
          <a:bodyPr/>
          <a:lstStyle/>
          <a:p>
            <a:endParaRPr lang="en-US"/>
          </a:p>
        </p:txBody>
      </p:sp>
      <p:sp>
        <p:nvSpPr>
          <p:cNvPr id="12" name="Text 5"/>
          <p:cNvSpPr/>
          <p:nvPr/>
        </p:nvSpPr>
        <p:spPr>
          <a:xfrm>
            <a:off x="411480" y="1600200"/>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1</a:t>
            </a:r>
            <a:endParaRPr lang="en-US" sz="1400" dirty="0"/>
          </a:p>
        </p:txBody>
      </p:sp>
      <p:sp>
        <p:nvSpPr>
          <p:cNvPr id="13" name="Text 6"/>
          <p:cNvSpPr/>
          <p:nvPr/>
        </p:nvSpPr>
        <p:spPr>
          <a:xfrm>
            <a:off x="667512" y="1600200"/>
            <a:ext cx="3264408"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The decision</a:t>
            </a:r>
            <a:endParaRPr lang="en-US" sz="1400" dirty="0"/>
          </a:p>
        </p:txBody>
      </p:sp>
      <p:sp>
        <p:nvSpPr>
          <p:cNvPr id="14" name="Text 7"/>
          <p:cNvSpPr>
            <a:spLocks noGrp="1"/>
          </p:cNvSpPr>
          <p:nvPr>
            <p:ph type="body" idx="112" hasCustomPrompt="1"/>
          </p:nvPr>
        </p:nvSpPr>
        <p:spPr>
          <a:xfrm>
            <a:off x="411480" y="1892808"/>
            <a:ext cx="3520440" cy="960120"/>
          </a:xfrm>
          <a:prstGeom prst="rect">
            <a:avLst/>
          </a:prstGeom>
          <a:noFill/>
          <a:ln/>
        </p:spPr>
        <p:txBody>
          <a:bodyPr wrap="square" lIns="0" tIns="27432" rIns="0" bIns="0" rtlCol="0" anchor="t">
            <a:noAutofit/>
          </a:bodyPr>
          <a:lstStyle>
            <a:lvl1pPr marL="0" indent="0">
              <a:buNone/>
              <a:defRPr lang="en-US" sz="1400" dirty="0">
                <a:solidFill>
                  <a:srgbClr val="1F2937"/>
                </a:solidFill>
                <a:latin typeface="Arial" pitchFamily="34" charset="0"/>
                <a:ea typeface="Arial" pitchFamily="34" charset="-122"/>
                <a:cs typeface="Arial" pitchFamily="34" charset="-120"/>
              </a:defRPr>
            </a:lvl1pPr>
          </a:lstStyle>
          <a:p>
            <a:pPr marL="0" indent="0">
              <a:buNone/>
            </a:pPr>
            <a:r>
              <a:rPr lang="en-US" sz="1400" i="1" dirty="0">
                <a:solidFill>
                  <a:srgbClr val="9AA0A6"/>
                </a:solidFill>
                <a:latin typeface="Arial" pitchFamily="34" charset="0"/>
                <a:ea typeface="Arial" pitchFamily="34" charset="-122"/>
                <a:cs typeface="Arial" pitchFamily="34" charset="-120"/>
              </a:rPr>
              <a:t>What does the system decide today, who decides it, and what does a bad decision cost? Max 25 words.</a:t>
            </a:r>
            <a:endParaRPr lang="en-US" sz="1400" dirty="0"/>
          </a:p>
        </p:txBody>
      </p:sp>
      <p:sp>
        <p:nvSpPr>
          <p:cNvPr id="15" name="Text 7"/>
          <p:cNvSpPr/>
          <p:nvPr/>
        </p:nvSpPr>
        <p:spPr>
          <a:xfrm>
            <a:off x="411480" y="2990088"/>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2</a:t>
            </a:r>
            <a:endParaRPr lang="en-US" sz="1400" dirty="0"/>
          </a:p>
        </p:txBody>
      </p:sp>
      <p:sp>
        <p:nvSpPr>
          <p:cNvPr id="16" name="Text 8"/>
          <p:cNvSpPr/>
          <p:nvPr/>
        </p:nvSpPr>
        <p:spPr>
          <a:xfrm>
            <a:off x="667512" y="2990088"/>
            <a:ext cx="3264408"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Beat what, exactly?</a:t>
            </a:r>
            <a:endParaRPr lang="en-US" sz="1400" dirty="0"/>
          </a:p>
        </p:txBody>
      </p:sp>
      <p:sp>
        <p:nvSpPr>
          <p:cNvPr id="17" name="Text 9"/>
          <p:cNvSpPr>
            <a:spLocks noGrp="1"/>
          </p:cNvSpPr>
          <p:nvPr>
            <p:ph type="body" idx="115" hasCustomPrompt="1"/>
          </p:nvPr>
        </p:nvSpPr>
        <p:spPr>
          <a:xfrm>
            <a:off x="411480" y="3282696"/>
            <a:ext cx="3520440" cy="960120"/>
          </a:xfrm>
          <a:prstGeom prst="rect">
            <a:avLst/>
          </a:prstGeom>
          <a:noFill/>
          <a:ln/>
        </p:spPr>
        <p:txBody>
          <a:bodyPr wrap="square" lIns="0" tIns="27432" rIns="0" bIns="0" rtlCol="0" anchor="t">
            <a:noAutofit/>
          </a:bodyPr>
          <a:lstStyle>
            <a:lvl1pPr marL="0" indent="0">
              <a:buNone/>
              <a:defRPr lang="en-US" sz="1400" dirty="0">
                <a:solidFill>
                  <a:srgbClr val="1F2937"/>
                </a:solidFill>
                <a:latin typeface="Arial" pitchFamily="34" charset="0"/>
                <a:ea typeface="Arial" pitchFamily="34" charset="-122"/>
                <a:cs typeface="Arial" pitchFamily="34" charset="-120"/>
              </a:defRPr>
            </a:lvl1pPr>
          </a:lstStyle>
          <a:p>
            <a:pPr marL="0" indent="0">
              <a:buNone/>
            </a:pPr>
            <a:r>
              <a:rPr lang="en-US" sz="1400" i="1" dirty="0">
                <a:solidFill>
                  <a:srgbClr val="9AA0A6"/>
                </a:solidFill>
                <a:latin typeface="Arial" pitchFamily="34" charset="0"/>
                <a:ea typeface="Arial" pitchFamily="34" charset="-122"/>
                <a:cs typeface="Arial" pitchFamily="34" charset="-120"/>
              </a:rPr>
              <a:t>The baseline you must beat, where it comes from, how hard you tuned it, and its number. Max 25 words.</a:t>
            </a:r>
            <a:endParaRPr lang="en-US" sz="1400" dirty="0"/>
          </a:p>
        </p:txBody>
      </p:sp>
      <p:sp>
        <p:nvSpPr>
          <p:cNvPr id="18" name="Text 9"/>
          <p:cNvSpPr/>
          <p:nvPr/>
        </p:nvSpPr>
        <p:spPr>
          <a:xfrm>
            <a:off x="411480" y="4379976"/>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3</a:t>
            </a:r>
            <a:endParaRPr lang="en-US" sz="1400" dirty="0"/>
          </a:p>
        </p:txBody>
      </p:sp>
      <p:sp>
        <p:nvSpPr>
          <p:cNvPr id="19" name="Text 10"/>
          <p:cNvSpPr/>
          <p:nvPr/>
        </p:nvSpPr>
        <p:spPr>
          <a:xfrm>
            <a:off x="667512" y="4379976"/>
            <a:ext cx="3264408"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Our approach</a:t>
            </a:r>
            <a:endParaRPr lang="en-US" sz="1400" dirty="0"/>
          </a:p>
        </p:txBody>
      </p:sp>
      <p:sp>
        <p:nvSpPr>
          <p:cNvPr id="20" name="Text 11"/>
          <p:cNvSpPr>
            <a:spLocks noGrp="1"/>
          </p:cNvSpPr>
          <p:nvPr>
            <p:ph type="body" idx="118" hasCustomPrompt="1"/>
          </p:nvPr>
        </p:nvSpPr>
        <p:spPr>
          <a:xfrm>
            <a:off x="411480" y="4672584"/>
            <a:ext cx="3520440" cy="1133856"/>
          </a:xfrm>
          <a:prstGeom prst="rect">
            <a:avLst/>
          </a:prstGeom>
          <a:noFill/>
          <a:ln/>
        </p:spPr>
        <p:txBody>
          <a:bodyPr wrap="square" lIns="0" tIns="27432" rIns="0" bIns="0" rtlCol="0" anchor="t">
            <a:noAutofit/>
          </a:bodyPr>
          <a:lstStyle>
            <a:lvl1pPr marL="0" indent="0">
              <a:buNone/>
              <a:defRPr lang="en-US" sz="1400" dirty="0">
                <a:solidFill>
                  <a:srgbClr val="1F2937"/>
                </a:solidFill>
                <a:latin typeface="Arial" pitchFamily="34" charset="0"/>
                <a:ea typeface="Arial" pitchFamily="34" charset="-122"/>
                <a:cs typeface="Arial" pitchFamily="34" charset="-120"/>
              </a:defRPr>
            </a:lvl1pPr>
          </a:lstStyle>
          <a:p>
            <a:pPr marL="0" indent="0">
              <a:buNone/>
            </a:pPr>
            <a:r>
              <a:rPr lang="en-US" sz="1400" i="1" dirty="0">
                <a:solidFill>
                  <a:srgbClr val="9AA0A6"/>
                </a:solidFill>
                <a:latin typeface="Arial" pitchFamily="34" charset="0"/>
                <a:ea typeface="Arial" pitchFamily="34" charset="-122"/>
                <a:cs typeface="Arial" pitchFamily="34" charset="-120"/>
              </a:rPr>
              <a:t>Model, its inputs, where the labels come from, and the cost of one inference. Max 30 words.</a:t>
            </a:r>
            <a:endParaRPr lang="en-US" sz="1400" dirty="0"/>
          </a:p>
        </p:txBody>
      </p:sp>
      <p:sp>
        <p:nvSpPr>
          <p:cNvPr id="21" name="Text 11"/>
          <p:cNvSpPr/>
          <p:nvPr/>
        </p:nvSpPr>
        <p:spPr>
          <a:xfrm>
            <a:off x="4206240" y="1600200"/>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4</a:t>
            </a:r>
            <a:endParaRPr lang="en-US" sz="1400" dirty="0"/>
          </a:p>
        </p:txBody>
      </p:sp>
      <p:sp>
        <p:nvSpPr>
          <p:cNvPr id="22" name="Text 12"/>
          <p:cNvSpPr/>
          <p:nvPr/>
        </p:nvSpPr>
        <p:spPr>
          <a:xfrm>
            <a:off x="4462272" y="1600200"/>
            <a:ext cx="3950208"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First result</a:t>
            </a:r>
            <a:endParaRPr lang="en-US" sz="1400" dirty="0"/>
          </a:p>
        </p:txBody>
      </p:sp>
      <p:sp>
        <p:nvSpPr>
          <p:cNvPr id="23" name="Shape 13"/>
          <p:cNvSpPr/>
          <p:nvPr/>
        </p:nvSpPr>
        <p:spPr>
          <a:xfrm>
            <a:off x="4206240" y="1892808"/>
            <a:ext cx="4206240" cy="2606040"/>
          </a:xfrm>
          <a:prstGeom prst="rect">
            <a:avLst/>
          </a:prstGeom>
          <a:ln w="9525">
            <a:solidFill>
              <a:srgbClr val="C9CED6"/>
            </a:solidFill>
            <a:prstDash val="solid"/>
          </a:ln>
        </p:spPr>
        <p:txBody>
          <a:bodyPr/>
          <a:lstStyle/>
          <a:p>
            <a:endParaRPr lang="en-US"/>
          </a:p>
        </p:txBody>
      </p:sp>
      <p:sp>
        <p:nvSpPr>
          <p:cNvPr id="24" name="Text 14"/>
          <p:cNvSpPr>
            <a:spLocks noGrp="1"/>
          </p:cNvSpPr>
          <p:nvPr>
            <p:ph type="pic" idx="122" hasCustomPrompt="1"/>
          </p:nvPr>
        </p:nvSpPr>
        <p:spPr>
          <a:xfrm>
            <a:off x="4206240" y="1892808"/>
            <a:ext cx="4206240" cy="2606040"/>
          </a:xfrm>
          <a:prstGeom prst="rect">
            <a:avLst/>
          </a:prstGeom>
          <a:noFill/>
          <a:ln/>
        </p:spPr>
        <p:txBody>
          <a:bodyPr wrap="square" lIns="91440" tIns="91440" rIns="91440" bIns="91440" rtlCol="0" anchor="ctr">
            <a:noAutofit/>
          </a:bodyPr>
          <a:lstStyle>
            <a:lvl1pPr marL="0" indent="0" algn="ctr">
              <a:buNone/>
              <a:defRPr lang="en-US" sz="1400" dirty="0">
                <a:solidFill>
                  <a:srgbClr val="6B7280"/>
                </a:solidFill>
                <a:latin typeface="Arial" pitchFamily="34" charset="0"/>
                <a:ea typeface="Arial" pitchFamily="34" charset="-122"/>
                <a:cs typeface="Arial" pitchFamily="34" charset="-120"/>
              </a:defRPr>
            </a:lvl1pPr>
          </a:lstStyle>
          <a:p>
            <a:pPr marL="0" indent="0" algn="ctr">
              <a:buNone/>
            </a:pPr>
            <a:r>
              <a:rPr lang="en-US" sz="1400" i="1" dirty="0">
                <a:solidFill>
                  <a:srgbClr val="9AA0A6"/>
                </a:solidFill>
                <a:latin typeface="Arial" pitchFamily="34" charset="0"/>
                <a:ea typeface="Arial" pitchFamily="34" charset="-122"/>
                <a:cs typeface="Arial" pitchFamily="34" charset="-120"/>
              </a:rPr>
              <a:t>Insert ONE plot. Label both axes. Put the baseline on the same axes. Or table or text is also fine</a:t>
            </a:r>
            <a:endParaRPr lang="en-US" sz="1400" dirty="0"/>
          </a:p>
        </p:txBody>
      </p:sp>
      <p:sp>
        <p:nvSpPr>
          <p:cNvPr id="25" name="Text 14"/>
          <p:cNvSpPr>
            <a:spLocks noGrp="1"/>
          </p:cNvSpPr>
          <p:nvPr>
            <p:ph type="body" idx="123" hasCustomPrompt="1"/>
          </p:nvPr>
        </p:nvSpPr>
        <p:spPr>
          <a:xfrm>
            <a:off x="4206240" y="4590288"/>
            <a:ext cx="4206240" cy="603504"/>
          </a:xfrm>
          <a:prstGeom prst="rect">
            <a:avLst/>
          </a:prstGeom>
          <a:noFill/>
          <a:ln/>
        </p:spPr>
        <p:txBody>
          <a:bodyPr wrap="square" lIns="0" tIns="27432" rIns="0" bIns="0" rtlCol="0" anchor="t">
            <a:noAutofit/>
          </a:bodyPr>
          <a:lstStyle>
            <a:lvl1pPr marL="0" indent="0">
              <a:buNone/>
              <a:defRPr lang="en-US" sz="1600" b="1" dirty="0">
                <a:solidFill>
                  <a:srgbClr val="1C3557"/>
                </a:solidFill>
                <a:latin typeface="Arial" pitchFamily="34" charset="0"/>
                <a:ea typeface="Arial" pitchFamily="34" charset="-122"/>
                <a:cs typeface="Arial" pitchFamily="34" charset="-120"/>
              </a:defRPr>
            </a:lvl1pPr>
          </a:lstStyle>
          <a:p>
            <a:pPr marL="0" indent="0">
              <a:buNone/>
            </a:pPr>
            <a:r>
              <a:rPr lang="en-US" sz="1600" b="1" i="1" dirty="0">
                <a:solidFill>
                  <a:srgbClr val="9AA0A6"/>
                </a:solidFill>
                <a:latin typeface="Arial" pitchFamily="34" charset="0"/>
                <a:ea typeface="Arial" pitchFamily="34" charset="-122"/>
                <a:cs typeface="Arial" pitchFamily="34" charset="-120"/>
              </a:rPr>
              <a:t>One sentence, one number: what the plot/result shows</a:t>
            </a:r>
            <a:endParaRPr lang="en-US" sz="1600" dirty="0"/>
          </a:p>
        </p:txBody>
      </p:sp>
      <p:sp>
        <p:nvSpPr>
          <p:cNvPr id="26" name="Text 14"/>
          <p:cNvSpPr>
            <a:spLocks noGrp="1"/>
          </p:cNvSpPr>
          <p:nvPr>
            <p:ph type="body" idx="124" hasCustomPrompt="1"/>
          </p:nvPr>
        </p:nvSpPr>
        <p:spPr>
          <a:xfrm>
            <a:off x="4206240" y="5230368"/>
            <a:ext cx="4206240" cy="576072"/>
          </a:xfrm>
          <a:prstGeom prst="rect">
            <a:avLst/>
          </a:prstGeom>
          <a:noFill/>
          <a:ln/>
        </p:spPr>
        <p:txBody>
          <a:bodyPr wrap="square" lIns="0" tIns="27432" rIns="0" bIns="0" rtlCol="0" anchor="t">
            <a:noAutofit/>
          </a:bodyPr>
          <a:lstStyle>
            <a:lvl1pPr marL="0" indent="0">
              <a:buNone/>
              <a:defRPr lang="en-US" sz="1200" dirty="0">
                <a:solidFill>
                  <a:srgbClr val="6B7280"/>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Measured on: machine, inputs, warm-up, median of N runs, spread. Max 20 words.</a:t>
            </a:r>
            <a:endParaRPr lang="en-US" sz="1200" dirty="0"/>
          </a:p>
        </p:txBody>
      </p:sp>
      <p:sp>
        <p:nvSpPr>
          <p:cNvPr id="27" name="Text 14"/>
          <p:cNvSpPr/>
          <p:nvPr/>
        </p:nvSpPr>
        <p:spPr>
          <a:xfrm>
            <a:off x="8686800" y="2005153"/>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5</a:t>
            </a:r>
            <a:endParaRPr lang="en-US" sz="1400" dirty="0"/>
          </a:p>
        </p:txBody>
      </p:sp>
      <p:sp>
        <p:nvSpPr>
          <p:cNvPr id="28" name="Text 15"/>
          <p:cNvSpPr/>
          <p:nvPr/>
        </p:nvSpPr>
        <p:spPr>
          <a:xfrm>
            <a:off x="8942832" y="2005153"/>
            <a:ext cx="2834640"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What broke or surprised us</a:t>
            </a:r>
            <a:endParaRPr lang="en-US" sz="1400" dirty="0"/>
          </a:p>
        </p:txBody>
      </p:sp>
      <p:sp>
        <p:nvSpPr>
          <p:cNvPr id="29" name="Text 16"/>
          <p:cNvSpPr>
            <a:spLocks noGrp="1"/>
          </p:cNvSpPr>
          <p:nvPr>
            <p:ph type="body" idx="127" hasCustomPrompt="1"/>
          </p:nvPr>
        </p:nvSpPr>
        <p:spPr>
          <a:xfrm>
            <a:off x="8686800" y="2297760"/>
            <a:ext cx="3090672" cy="1725599"/>
          </a:xfrm>
          <a:prstGeom prst="rect">
            <a:avLst/>
          </a:prstGeom>
          <a:noFill/>
          <a:ln/>
        </p:spPr>
        <p:txBody>
          <a:bodyPr wrap="square" lIns="0" tIns="27432" rIns="0" bIns="0" rtlCol="0" anchor="t">
            <a:noAutofit/>
          </a:bodyPr>
          <a:lstStyle>
            <a:lvl1pPr marL="0" indent="0">
              <a:buNone/>
              <a:defRPr lang="en-US" sz="1400" dirty="0">
                <a:solidFill>
                  <a:srgbClr val="1F2937"/>
                </a:solidFill>
                <a:latin typeface="Arial" pitchFamily="34" charset="0"/>
                <a:ea typeface="Arial" pitchFamily="34" charset="-122"/>
                <a:cs typeface="Arial" pitchFamily="34" charset="-120"/>
              </a:defRPr>
            </a:lvl1pPr>
          </a:lstStyle>
          <a:p>
            <a:pPr marL="0" indent="0">
              <a:buNone/>
            </a:pPr>
            <a:r>
              <a:rPr lang="en-US" sz="1400" i="1" dirty="0">
                <a:solidFill>
                  <a:srgbClr val="9AA0A6"/>
                </a:solidFill>
                <a:latin typeface="Arial" pitchFamily="34" charset="0"/>
                <a:ea typeface="Arial" pitchFamily="34" charset="-122"/>
                <a:cs typeface="Arial" pitchFamily="34" charset="-120"/>
              </a:rPr>
              <a:t>One thing that failed, did not reproduce, or surprised you, and what it taught you. Max 40 words.</a:t>
            </a:r>
            <a:endParaRPr lang="en-US" sz="1400" dirty="0"/>
          </a:p>
        </p:txBody>
      </p:sp>
      <p:sp>
        <p:nvSpPr>
          <p:cNvPr id="30" name="Text 16"/>
          <p:cNvSpPr/>
          <p:nvPr/>
        </p:nvSpPr>
        <p:spPr>
          <a:xfrm>
            <a:off x="8686800" y="4361690"/>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6</a:t>
            </a:r>
            <a:endParaRPr lang="en-US" sz="1400" dirty="0"/>
          </a:p>
        </p:txBody>
      </p:sp>
      <p:sp>
        <p:nvSpPr>
          <p:cNvPr id="31" name="Text 17"/>
          <p:cNvSpPr/>
          <p:nvPr/>
        </p:nvSpPr>
        <p:spPr>
          <a:xfrm>
            <a:off x="8942832" y="4361690"/>
            <a:ext cx="2834640"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Next six weeks</a:t>
            </a:r>
            <a:endParaRPr lang="en-US" sz="1400" dirty="0"/>
          </a:p>
        </p:txBody>
      </p:sp>
      <p:sp>
        <p:nvSpPr>
          <p:cNvPr id="32" name="Text 18"/>
          <p:cNvSpPr>
            <a:spLocks noGrp="1"/>
          </p:cNvSpPr>
          <p:nvPr>
            <p:ph type="body" idx="130" hasCustomPrompt="1"/>
          </p:nvPr>
        </p:nvSpPr>
        <p:spPr>
          <a:xfrm>
            <a:off x="8686800" y="4654298"/>
            <a:ext cx="3090672" cy="960120"/>
          </a:xfrm>
          <a:prstGeom prst="rect">
            <a:avLst/>
          </a:prstGeom>
          <a:noFill/>
          <a:ln/>
        </p:spPr>
        <p:txBody>
          <a:bodyPr wrap="square" lIns="0" tIns="27432" rIns="0" bIns="0" rtlCol="0" anchor="t">
            <a:noAutofit/>
          </a:bodyPr>
          <a:lstStyle>
            <a:lvl1pPr marL="0" indent="0">
              <a:buNone/>
              <a:defRPr lang="en-US" sz="1400" dirty="0">
                <a:solidFill>
                  <a:srgbClr val="1F2937"/>
                </a:solidFill>
                <a:latin typeface="Arial" pitchFamily="34" charset="0"/>
                <a:ea typeface="Arial" pitchFamily="34" charset="-122"/>
                <a:cs typeface="Arial" pitchFamily="34" charset="-120"/>
              </a:defRPr>
            </a:lvl1pPr>
          </a:lstStyle>
          <a:p>
            <a:pPr marL="0" indent="0">
              <a:buNone/>
            </a:pPr>
            <a:r>
              <a:rPr lang="en-US" sz="1400" i="1" dirty="0">
                <a:solidFill>
                  <a:srgbClr val="9AA0A6"/>
                </a:solidFill>
                <a:latin typeface="Arial" pitchFamily="34" charset="0"/>
                <a:ea typeface="Arial" pitchFamily="34" charset="-122"/>
                <a:cs typeface="Arial" pitchFamily="34" charset="-120"/>
              </a:rPr>
              <a:t>The experiment that decides the project, the biggest risk, and your fallback. Max 20 words.</a:t>
            </a:r>
            <a:endParaRPr lang="en-US" sz="1400" dirty="0"/>
          </a:p>
        </p:txBody>
      </p:sp>
      <p:sp>
        <p:nvSpPr>
          <p:cNvPr id="37" name="Shape 21"/>
          <p:cNvSpPr/>
          <p:nvPr/>
        </p:nvSpPr>
        <p:spPr>
          <a:xfrm>
            <a:off x="411480" y="5943600"/>
            <a:ext cx="11365992" cy="0"/>
          </a:xfrm>
          <a:prstGeom prst="line">
            <a:avLst/>
          </a:prstGeom>
          <a:noFill/>
          <a:ln w="9525">
            <a:solidFill>
              <a:srgbClr val="C9CED6"/>
            </a:solidFill>
            <a:prstDash val="solid"/>
          </a:ln>
        </p:spPr>
        <p:txBody>
          <a:bodyPr/>
          <a:lstStyle/>
          <a:p>
            <a:endParaRPr lang="en-US"/>
          </a:p>
        </p:txBody>
      </p:sp>
      <p:sp>
        <p:nvSpPr>
          <p:cNvPr id="38" name="Text 22"/>
          <p:cNvSpPr/>
          <p:nvPr/>
        </p:nvSpPr>
        <p:spPr>
          <a:xfrm>
            <a:off x="411480" y="6053328"/>
            <a:ext cx="1280160" cy="201168"/>
          </a:xfrm>
          <a:prstGeom prst="rect">
            <a:avLst/>
          </a:prstGeom>
          <a:noFill/>
          <a:ln/>
        </p:spPr>
        <p:txBody>
          <a:bodyPr wrap="square" lIns="0" tIns="0" rIns="0" bIns="0" rtlCol="0" anchor="t"/>
          <a:lstStyle/>
          <a:p>
            <a:pPr marL="0" indent="0">
              <a:buNone/>
            </a:pPr>
            <a:r>
              <a:rPr lang="en-US" sz="1000" kern="0" spc="100" dirty="0">
                <a:solidFill>
                  <a:srgbClr val="6B7280"/>
                </a:solidFill>
                <a:latin typeface="Courier New" pitchFamily="34" charset="0"/>
                <a:ea typeface="Courier New" pitchFamily="34" charset="-122"/>
                <a:cs typeface="Courier New" pitchFamily="34" charset="-120"/>
              </a:rPr>
              <a:t>GATE CHECK</a:t>
            </a:r>
            <a:endParaRPr lang="en-US" sz="1000" dirty="0"/>
          </a:p>
        </p:txBody>
      </p:sp>
      <p:sp>
        <p:nvSpPr>
          <p:cNvPr id="39" name="Text 23"/>
          <p:cNvSpPr/>
          <p:nvPr/>
        </p:nvSpPr>
        <p:spPr>
          <a:xfrm>
            <a:off x="411480" y="6254496"/>
            <a:ext cx="1280160" cy="201168"/>
          </a:xfrm>
          <a:prstGeom prst="rect">
            <a:avLst/>
          </a:prstGeom>
          <a:noFill/>
          <a:ln/>
        </p:spPr>
        <p:txBody>
          <a:bodyPr wrap="square" lIns="0" tIns="0" rIns="0" bIns="0" rtlCol="0" anchor="t"/>
          <a:lstStyle/>
          <a:p>
            <a:pPr marL="0" indent="0">
              <a:buNone/>
            </a:pPr>
            <a:r>
              <a:rPr lang="en-US" sz="1000" dirty="0">
                <a:solidFill>
                  <a:srgbClr val="6B7280"/>
                </a:solidFill>
                <a:latin typeface="Arial" pitchFamily="34" charset="0"/>
                <a:ea typeface="Arial" pitchFamily="34" charset="-122"/>
                <a:cs typeface="Arial" pitchFamily="34" charset="-120"/>
              </a:rPr>
              <a:t>the five constraints</a:t>
            </a:r>
            <a:endParaRPr lang="en-US" sz="1000" dirty="0"/>
          </a:p>
        </p:txBody>
      </p:sp>
      <p:sp>
        <p:nvSpPr>
          <p:cNvPr id="40" name="Text 24"/>
          <p:cNvSpPr/>
          <p:nvPr/>
        </p:nvSpPr>
        <p:spPr>
          <a:xfrm>
            <a:off x="1783080" y="6035040"/>
            <a:ext cx="1911096" cy="219456"/>
          </a:xfrm>
          <a:prstGeom prst="rect">
            <a:avLst/>
          </a:prstGeom>
          <a:noFill/>
          <a:ln/>
        </p:spPr>
        <p:txBody>
          <a:bodyPr wrap="square" lIns="0" tIns="0" rIns="0" bIns="0" rtlCol="0" anchor="t"/>
          <a:lstStyle/>
          <a:p>
            <a:pPr marL="0" indent="0">
              <a:buNone/>
            </a:pPr>
            <a:r>
              <a:rPr lang="en-US" sz="1100" b="1" dirty="0">
                <a:solidFill>
                  <a:srgbClr val="1C3557"/>
                </a:solidFill>
                <a:latin typeface="Arial" pitchFamily="34" charset="0"/>
                <a:ea typeface="Arial" pitchFamily="34" charset="-122"/>
                <a:cs typeface="Arial" pitchFamily="34" charset="-120"/>
              </a:rPr>
              <a:t>Safe when wrong</a:t>
            </a:r>
            <a:endParaRPr lang="en-US" sz="1100" dirty="0"/>
          </a:p>
        </p:txBody>
      </p:sp>
      <p:sp>
        <p:nvSpPr>
          <p:cNvPr id="41" name="Text 25"/>
          <p:cNvSpPr>
            <a:spLocks noGrp="1"/>
          </p:cNvSpPr>
          <p:nvPr>
            <p:ph type="body" idx="139" hasCustomPrompt="1"/>
          </p:nvPr>
        </p:nvSpPr>
        <p:spPr>
          <a:xfrm>
            <a:off x="1783080" y="6263640"/>
            <a:ext cx="1911096" cy="301752"/>
          </a:xfrm>
          <a:prstGeom prst="rect">
            <a:avLst/>
          </a:prstGeom>
          <a:noFill/>
          <a:ln/>
        </p:spPr>
        <p:txBody>
          <a:bodyPr wrap="square" lIns="0" tIns="27432" rIns="0" bIns="0" rtlCol="0" anchor="t">
            <a:noAutofit/>
          </a:bodyPr>
          <a:lstStyle>
            <a:lvl1pPr marL="0" indent="0">
              <a:buNone/>
              <a:defRPr lang="en-US" sz="1200" dirty="0">
                <a:solidFill>
                  <a:srgbClr val="1F2937"/>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yes / unsure / no, and why</a:t>
            </a:r>
            <a:endParaRPr lang="en-US" sz="1200" dirty="0"/>
          </a:p>
        </p:txBody>
      </p:sp>
      <p:sp>
        <p:nvSpPr>
          <p:cNvPr id="42" name="Text 25"/>
          <p:cNvSpPr/>
          <p:nvPr/>
        </p:nvSpPr>
        <p:spPr>
          <a:xfrm>
            <a:off x="3803904" y="6035040"/>
            <a:ext cx="1911096" cy="219456"/>
          </a:xfrm>
          <a:prstGeom prst="rect">
            <a:avLst/>
          </a:prstGeom>
          <a:noFill/>
          <a:ln/>
        </p:spPr>
        <p:txBody>
          <a:bodyPr wrap="square" lIns="0" tIns="0" rIns="0" bIns="0" rtlCol="0" anchor="t"/>
          <a:lstStyle/>
          <a:p>
            <a:pPr marL="0" indent="0">
              <a:buNone/>
            </a:pPr>
            <a:r>
              <a:rPr lang="en-US" sz="1100" b="1" dirty="0">
                <a:solidFill>
                  <a:srgbClr val="1C3557"/>
                </a:solidFill>
                <a:latin typeface="Arial" pitchFamily="34" charset="0"/>
                <a:ea typeface="Arial" pitchFamily="34" charset="-122"/>
                <a:cs typeface="Arial" pitchFamily="34" charset="-120"/>
              </a:rPr>
              <a:t>Labels affordable</a:t>
            </a:r>
            <a:endParaRPr lang="en-US" sz="1100" dirty="0"/>
          </a:p>
        </p:txBody>
      </p:sp>
      <p:sp>
        <p:nvSpPr>
          <p:cNvPr id="43" name="Text 26"/>
          <p:cNvSpPr>
            <a:spLocks noGrp="1"/>
          </p:cNvSpPr>
          <p:nvPr>
            <p:ph type="body" idx="141" hasCustomPrompt="1"/>
          </p:nvPr>
        </p:nvSpPr>
        <p:spPr>
          <a:xfrm>
            <a:off x="3803904" y="6263640"/>
            <a:ext cx="1911096" cy="301752"/>
          </a:xfrm>
          <a:prstGeom prst="rect">
            <a:avLst/>
          </a:prstGeom>
          <a:noFill/>
          <a:ln/>
        </p:spPr>
        <p:txBody>
          <a:bodyPr wrap="square" lIns="0" tIns="27432" rIns="0" bIns="0" rtlCol="0" anchor="t">
            <a:noAutofit/>
          </a:bodyPr>
          <a:lstStyle>
            <a:lvl1pPr marL="0" indent="0">
              <a:buNone/>
              <a:defRPr lang="en-US" sz="1200" dirty="0">
                <a:solidFill>
                  <a:srgbClr val="1F2937"/>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yes / unsure / no, and why</a:t>
            </a:r>
            <a:endParaRPr lang="en-US" sz="1200" dirty="0"/>
          </a:p>
        </p:txBody>
      </p:sp>
      <p:sp>
        <p:nvSpPr>
          <p:cNvPr id="44" name="Text 26"/>
          <p:cNvSpPr/>
          <p:nvPr/>
        </p:nvSpPr>
        <p:spPr>
          <a:xfrm>
            <a:off x="5824728" y="6035040"/>
            <a:ext cx="1911096" cy="219456"/>
          </a:xfrm>
          <a:prstGeom prst="rect">
            <a:avLst/>
          </a:prstGeom>
          <a:noFill/>
          <a:ln/>
        </p:spPr>
        <p:txBody>
          <a:bodyPr wrap="square" lIns="0" tIns="0" rIns="0" bIns="0" rtlCol="0" anchor="t"/>
          <a:lstStyle/>
          <a:p>
            <a:pPr marL="0" indent="0">
              <a:buNone/>
            </a:pPr>
            <a:r>
              <a:rPr lang="en-US" sz="1100" b="1" dirty="0">
                <a:solidFill>
                  <a:srgbClr val="1C3557"/>
                </a:solidFill>
                <a:latin typeface="Arial" pitchFamily="34" charset="0"/>
                <a:ea typeface="Arial" pitchFamily="34" charset="-122"/>
                <a:cs typeface="Arial" pitchFamily="34" charset="-120"/>
              </a:rPr>
              <a:t>Fits the budget</a:t>
            </a:r>
            <a:endParaRPr lang="en-US" sz="1100" dirty="0"/>
          </a:p>
        </p:txBody>
      </p:sp>
      <p:sp>
        <p:nvSpPr>
          <p:cNvPr id="45" name="Text 27"/>
          <p:cNvSpPr>
            <a:spLocks noGrp="1"/>
          </p:cNvSpPr>
          <p:nvPr>
            <p:ph type="body" idx="143" hasCustomPrompt="1"/>
          </p:nvPr>
        </p:nvSpPr>
        <p:spPr>
          <a:xfrm>
            <a:off x="5824728" y="6263640"/>
            <a:ext cx="1911096" cy="301752"/>
          </a:xfrm>
          <a:prstGeom prst="rect">
            <a:avLst/>
          </a:prstGeom>
          <a:noFill/>
          <a:ln/>
        </p:spPr>
        <p:txBody>
          <a:bodyPr wrap="square" lIns="0" tIns="27432" rIns="0" bIns="0" rtlCol="0" anchor="t">
            <a:noAutofit/>
          </a:bodyPr>
          <a:lstStyle>
            <a:lvl1pPr marL="0" indent="0">
              <a:buNone/>
              <a:defRPr lang="en-US" sz="1200" dirty="0">
                <a:solidFill>
                  <a:srgbClr val="1F2937"/>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yes / unsure / no, and why</a:t>
            </a:r>
            <a:endParaRPr lang="en-US" sz="1200" dirty="0"/>
          </a:p>
        </p:txBody>
      </p:sp>
      <p:sp>
        <p:nvSpPr>
          <p:cNvPr id="46" name="Text 27"/>
          <p:cNvSpPr/>
          <p:nvPr/>
        </p:nvSpPr>
        <p:spPr>
          <a:xfrm>
            <a:off x="7845552" y="6035040"/>
            <a:ext cx="1911096" cy="219456"/>
          </a:xfrm>
          <a:prstGeom prst="rect">
            <a:avLst/>
          </a:prstGeom>
          <a:noFill/>
          <a:ln/>
        </p:spPr>
        <p:txBody>
          <a:bodyPr wrap="square" lIns="0" tIns="0" rIns="0" bIns="0" rtlCol="0" anchor="t"/>
          <a:lstStyle/>
          <a:p>
            <a:pPr marL="0" indent="0">
              <a:buNone/>
            </a:pPr>
            <a:r>
              <a:rPr lang="en-US" sz="1100" b="1" dirty="0">
                <a:solidFill>
                  <a:srgbClr val="1C3557"/>
                </a:solidFill>
                <a:latin typeface="Arial" pitchFamily="34" charset="0"/>
                <a:ea typeface="Arial" pitchFamily="34" charset="-122"/>
                <a:cs typeface="Arial" pitchFamily="34" charset="-120"/>
              </a:rPr>
              <a:t>Beats a tuned baseline</a:t>
            </a:r>
            <a:endParaRPr lang="en-US" sz="1100" dirty="0"/>
          </a:p>
        </p:txBody>
      </p:sp>
      <p:sp>
        <p:nvSpPr>
          <p:cNvPr id="47" name="Text 28"/>
          <p:cNvSpPr>
            <a:spLocks noGrp="1"/>
          </p:cNvSpPr>
          <p:nvPr>
            <p:ph type="body" idx="145" hasCustomPrompt="1"/>
          </p:nvPr>
        </p:nvSpPr>
        <p:spPr>
          <a:xfrm>
            <a:off x="7845552" y="6263640"/>
            <a:ext cx="1911096" cy="301752"/>
          </a:xfrm>
          <a:prstGeom prst="rect">
            <a:avLst/>
          </a:prstGeom>
          <a:noFill/>
          <a:ln/>
        </p:spPr>
        <p:txBody>
          <a:bodyPr wrap="square" lIns="0" tIns="27432" rIns="0" bIns="0" rtlCol="0" anchor="t">
            <a:noAutofit/>
          </a:bodyPr>
          <a:lstStyle>
            <a:lvl1pPr marL="0" indent="0">
              <a:buNone/>
              <a:defRPr lang="en-US" sz="1200" dirty="0">
                <a:solidFill>
                  <a:srgbClr val="1F2937"/>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yes / unsure / no, and why</a:t>
            </a:r>
            <a:endParaRPr lang="en-US" sz="1200" dirty="0"/>
          </a:p>
        </p:txBody>
      </p:sp>
      <p:sp>
        <p:nvSpPr>
          <p:cNvPr id="48" name="Text 28"/>
          <p:cNvSpPr/>
          <p:nvPr/>
        </p:nvSpPr>
        <p:spPr>
          <a:xfrm>
            <a:off x="9866376" y="6035040"/>
            <a:ext cx="1911096" cy="219456"/>
          </a:xfrm>
          <a:prstGeom prst="rect">
            <a:avLst/>
          </a:prstGeom>
          <a:noFill/>
          <a:ln/>
        </p:spPr>
        <p:txBody>
          <a:bodyPr wrap="square" lIns="0" tIns="0" rIns="0" bIns="0" rtlCol="0" anchor="t"/>
          <a:lstStyle/>
          <a:p>
            <a:pPr marL="0" indent="0">
              <a:buNone/>
            </a:pPr>
            <a:r>
              <a:rPr lang="en-US" sz="1100" b="1" dirty="0">
                <a:solidFill>
                  <a:srgbClr val="1C3557"/>
                </a:solidFill>
                <a:latin typeface="Arial" pitchFamily="34" charset="0"/>
                <a:ea typeface="Arial" pitchFamily="34" charset="-122"/>
                <a:cs typeface="Arial" pitchFamily="34" charset="-120"/>
              </a:rPr>
              <a:t>Survives a new workload</a:t>
            </a:r>
            <a:endParaRPr lang="en-US" sz="1100" dirty="0"/>
          </a:p>
        </p:txBody>
      </p:sp>
      <p:sp>
        <p:nvSpPr>
          <p:cNvPr id="49" name="Text 29"/>
          <p:cNvSpPr>
            <a:spLocks noGrp="1"/>
          </p:cNvSpPr>
          <p:nvPr>
            <p:ph type="body" idx="147" hasCustomPrompt="1"/>
          </p:nvPr>
        </p:nvSpPr>
        <p:spPr>
          <a:xfrm>
            <a:off x="9866376" y="6263640"/>
            <a:ext cx="1911096" cy="301752"/>
          </a:xfrm>
          <a:prstGeom prst="rect">
            <a:avLst/>
          </a:prstGeom>
          <a:noFill/>
          <a:ln/>
        </p:spPr>
        <p:txBody>
          <a:bodyPr wrap="square" lIns="0" tIns="27432" rIns="0" bIns="0" rtlCol="0" anchor="t">
            <a:noAutofit/>
          </a:bodyPr>
          <a:lstStyle>
            <a:lvl1pPr marL="0" indent="0">
              <a:buNone/>
              <a:defRPr lang="en-US" sz="1200" dirty="0">
                <a:solidFill>
                  <a:srgbClr val="1F2937"/>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yes / unsure / no, and why</a:t>
            </a: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a:spLocks noGrp="1"/>
          </p:cNvSpPr>
          <p:nvPr>
            <p:ph type="body" idx="101" hasCustomPrompt="1"/>
          </p:nvPr>
        </p:nvSpPr>
        <p:spPr/>
        <p:txBody>
          <a:bodyPr>
            <a:noAutofit/>
          </a:bodyPr>
          <a:lstStyle/>
          <a:p>
            <a:pPr marL="0" indent="0">
              <a:buNone/>
            </a:pPr>
            <a:r>
              <a:rPr lang="en-US"/>
              <a:t>Learning Transferable Graph-Scheduling Policies</a:t>
            </a:r>
          </a:p>
          <a:p>
            <a:pPr marL="0" indent="0">
              <a:buNone/>
            </a:pPr>
            <a:r>
              <a:rPr lang="en-US"/>
              <a:t>for Memory-Constrained AI Accelerators</a:t>
            </a:r>
          </a:p>
        </p:txBody>
      </p:sp>
      <p:sp>
        <p:nvSpPr>
          <p:cNvPr id="5" name="Text 3"/>
          <p:cNvSpPr>
            <a:spLocks noGrp="1"/>
          </p:cNvSpPr>
          <p:nvPr>
            <p:ph type="body" idx="105" hasCustomPrompt="1"/>
          </p:nvPr>
        </p:nvSpPr>
        <p:spPr/>
        <p:txBody>
          <a:bodyPr>
            <a:noAutofit/>
          </a:bodyPr>
          <a:lstStyle/>
          <a:p>
            <a:pPr marL="0" indent="0">
              <a:buNone/>
            </a:pPr>
            <a:r>
              <a:rPr lang="en-US"/>
              <a:t>10</a:t>
            </a:r>
            <a:endParaRPr lang="en-US" dirty="0"/>
          </a:p>
        </p:txBody>
      </p:sp>
      <p:sp>
        <p:nvSpPr>
          <p:cNvPr id="6" name="Text 3"/>
          <p:cNvSpPr>
            <a:spLocks noGrp="1"/>
          </p:cNvSpPr>
          <p:nvPr>
            <p:ph type="body" idx="106" hasCustomPrompt="1"/>
          </p:nvPr>
        </p:nvSpPr>
        <p:spPr/>
        <p:txBody>
          <a:bodyPr>
            <a:noAutofit/>
          </a:bodyPr>
          <a:lstStyle/>
          <a:p>
            <a:pPr marL="0" indent="0">
              <a:buNone/>
            </a:pPr>
            <a:r>
              <a:rPr lang="en-US"/>
              <a:t>COMPILER</a:t>
            </a:r>
            <a:endParaRPr lang="en-US" dirty="0"/>
          </a:p>
        </p:txBody>
      </p:sp>
      <p:sp>
        <p:nvSpPr>
          <p:cNvPr id="8" name="Text 7"/>
          <p:cNvSpPr>
            <a:spLocks noGrp="1"/>
          </p:cNvSpPr>
          <p:nvPr>
            <p:ph type="body" idx="112" hasCustomPrompt="1"/>
          </p:nvPr>
        </p:nvSpPr>
        <p:spPr/>
        <p:txBody>
          <a:bodyPr>
            <a:noAutofit/>
          </a:bodyPr>
          <a:lstStyle/>
          <a:p>
            <a:pPr marL="0" indent="0">
              <a:buNone/>
            </a:pPr>
            <a:r>
              <a:rPr lang="en-US"/>
              <a:t>Today, heuristics choose fusion and tile sizes. We aim to learn reusable decisions; poor choices increase memory traffic, latency, or memory failures.</a:t>
            </a:r>
            <a:endParaRPr lang="en-US" dirty="0"/>
          </a:p>
        </p:txBody>
      </p:sp>
      <p:sp>
        <p:nvSpPr>
          <p:cNvPr id="9" name="Text 9"/>
          <p:cNvSpPr>
            <a:spLocks noGrp="1"/>
          </p:cNvSpPr>
          <p:nvPr>
            <p:ph type="body" idx="115" hasCustomPrompt="1"/>
          </p:nvPr>
        </p:nvSpPr>
        <p:spPr/>
        <p:txBody>
          <a:bodyPr>
            <a:noAutofit/>
          </a:bodyPr>
          <a:lstStyle/>
          <a:p>
            <a:pPr marL="0" indent="0">
              <a:buNone/>
            </a:pPr>
            <a:r>
              <a:rPr lang="en-US"/>
              <a:t>Planned baselines: no fusion and greedy fusion using the same evaluator. Neither is implemented or tuned yet; no latency comparison is available.</a:t>
            </a:r>
            <a:endParaRPr lang="en-US" dirty="0"/>
          </a:p>
        </p:txBody>
      </p:sp>
      <p:sp>
        <p:nvSpPr>
          <p:cNvPr id="10" name="Text 11"/>
          <p:cNvSpPr>
            <a:spLocks noGrp="1"/>
          </p:cNvSpPr>
          <p:nvPr>
            <p:ph type="body" idx="118" hasCustomPrompt="1"/>
          </p:nvPr>
        </p:nvSpPr>
        <p:spPr/>
        <p:txBody>
          <a:bodyPr>
            <a:noAutofit/>
          </a:bodyPr>
          <a:lstStyle/>
          <a:p>
            <a:pPr marL="0" indent="0">
              <a:buNone/>
            </a:pPr>
            <a:r>
              <a:rPr lang="en-US"/>
              <a:t>Implemented: seeded DAG generation, augmentation, and validation. Planned RL inputs: graph and hardware; rewards from a verified evaluator. Policy inference cost remains unmeasured.</a:t>
            </a:r>
            <a:endParaRPr lang="en-US" dirty="0"/>
          </a:p>
        </p:txBody>
      </p:sp>
      <p:pic>
        <p:nvPicPr>
          <p:cNvPr id="11" name="Workload availability plot" descr="24 official and 100 synthetic workload graphs; official count shown as reference, not a latency baseline."/>
          <p:cNvPicPr>
            <a:picLocks noGrp="1"/>
          </p:cNvPicPr>
          <p:nvPr>
            <p:ph type="pic" idx="122"/>
          </p:nvPr>
        </p:nvPicPr>
        <p:blipFill>
          <a:blip r:embed="rId3"/>
          <a:stretch>
            <a:fillRect/>
          </a:stretch>
        </p:blipFill>
        <p:spPr>
          <a:xfrm>
            <a:off x="4206240" y="1892808"/>
            <a:ext cx="4206240" cy="2606040"/>
          </a:xfrm>
          <a:prstGeom prst="rect">
            <a:avLst/>
          </a:prstGeom>
        </p:spPr>
      </p:pic>
      <p:sp>
        <p:nvSpPr>
          <p:cNvPr id="12" name="Text 14"/>
          <p:cNvSpPr>
            <a:spLocks noGrp="1"/>
          </p:cNvSpPr>
          <p:nvPr>
            <p:ph type="body" idx="123" hasCustomPrompt="1"/>
          </p:nvPr>
        </p:nvSpPr>
        <p:spPr/>
        <p:txBody>
          <a:bodyPr>
            <a:noAutofit/>
          </a:bodyPr>
          <a:lstStyle/>
          <a:p>
            <a:pPr marL="0" indent="0">
              <a:buNone/>
            </a:pPr>
            <a:r>
              <a:rPr lang="en-US"/>
              <a:t>100 synthetic graphs validated;</a:t>
            </a:r>
            <a:endParaRPr lang="en-US" dirty="0"/>
          </a:p>
          <a:p>
            <a:pPr marL="0" indent="0">
              <a:buNone/>
            </a:pPr>
            <a:r>
              <a:rPr lang="en-US"/>
              <a:t>latency comparison still pending.</a:t>
            </a:r>
            <a:endParaRPr lang="en-US" dirty="0"/>
          </a:p>
        </p:txBody>
      </p:sp>
      <p:sp>
        <p:nvSpPr>
          <p:cNvPr id="13" name="Text 14"/>
          <p:cNvSpPr>
            <a:spLocks noGrp="1"/>
          </p:cNvSpPr>
          <p:nvPr>
            <p:ph type="body" idx="124" hasCustomPrompt="1"/>
          </p:nvPr>
        </p:nvSpPr>
        <p:spPr/>
        <p:txBody>
          <a:bodyPr>
            <a:noAutofit/>
          </a:bodyPr>
          <a:lstStyle/>
          <a:p>
            <a:pPr marL="0" indent="0">
              <a:buNone/>
            </a:pPr>
            <a:r>
              <a:rPr lang="en-US"/>
              <a:t>Darwin arm64; seed 4930; 100 graphs, 8–152 ops; one validation pass, not a timing benchmark.</a:t>
            </a:r>
            <a:endParaRPr lang="en-US" dirty="0"/>
          </a:p>
        </p:txBody>
      </p:sp>
      <p:sp>
        <p:nvSpPr>
          <p:cNvPr id="14" name="Text 16"/>
          <p:cNvSpPr>
            <a:spLocks noGrp="1"/>
          </p:cNvSpPr>
          <p:nvPr>
            <p:ph type="body" idx="127" hasCustomPrompt="1"/>
          </p:nvPr>
        </p:nvSpPr>
        <p:spPr/>
        <p:txBody>
          <a:bodyPr>
            <a:noAutofit/>
          </a:bodyPr>
          <a:lstStyle/>
          <a:p>
            <a:pPr marL="0" indent="0">
              <a:buNone/>
            </a:pPr>
            <a:r>
              <a:rPr lang="en-US"/>
              <a:t>Official mlsys.h declares Evaluate without its implementation. Our validator initially rejected unused tensors in benchmark 13; we corrected that rule. More synthetic graphs alone do not establish transferability.</a:t>
            </a:r>
            <a:endParaRPr lang="en-US" dirty="0"/>
          </a:p>
        </p:txBody>
      </p:sp>
      <p:sp>
        <p:nvSpPr>
          <p:cNvPr id="15" name="Text 18"/>
          <p:cNvSpPr>
            <a:spLocks noGrp="1"/>
          </p:cNvSpPr>
          <p:nvPr>
            <p:ph type="body" idx="130" hasCustomPrompt="1"/>
          </p:nvPr>
        </p:nvSpPr>
        <p:spPr/>
        <p:txBody>
          <a:bodyPr>
            <a:noAutofit/>
          </a:bodyPr>
          <a:lstStyle/>
          <a:p>
            <a:pPr marL="0" indent="0">
              <a:buNone/>
            </a:pPr>
            <a:r>
              <a:rPr lang="en-US"/>
              <a:t>Verify evaluator; compare baselines and RL on held-out graphs. Risk: synthetic-to-real transfer. Fallback: learned heuristic selection.</a:t>
            </a:r>
            <a:endParaRPr lang="en-US" dirty="0"/>
          </a:p>
        </p:txBody>
      </p:sp>
      <p:sp>
        <p:nvSpPr>
          <p:cNvPr id="17" name="Text 25"/>
          <p:cNvSpPr>
            <a:spLocks noGrp="1"/>
          </p:cNvSpPr>
          <p:nvPr>
            <p:ph type="body" idx="139" hasCustomPrompt="1"/>
          </p:nvPr>
        </p:nvSpPr>
        <p:spPr/>
        <p:txBody>
          <a:bodyPr>
            <a:noAutofit/>
          </a:bodyPr>
          <a:lstStyle/>
          <a:p>
            <a:pPr marL="0" indent="0">
              <a:buNone/>
            </a:pPr>
            <a:r>
              <a:rPr lang="en-US"/>
              <a:t>Unsure: fallback planned</a:t>
            </a:r>
            <a:endParaRPr lang="en-US" dirty="0"/>
          </a:p>
        </p:txBody>
      </p:sp>
      <p:sp>
        <p:nvSpPr>
          <p:cNvPr id="18" name="Text 26"/>
          <p:cNvSpPr>
            <a:spLocks noGrp="1"/>
          </p:cNvSpPr>
          <p:nvPr>
            <p:ph type="body" idx="141" hasCustomPrompt="1"/>
          </p:nvPr>
        </p:nvSpPr>
        <p:spPr/>
        <p:txBody>
          <a:bodyPr>
            <a:noAutofit/>
          </a:bodyPr>
          <a:lstStyle/>
          <a:p>
            <a:pPr marL="0" indent="0">
              <a:buNone/>
            </a:pPr>
            <a:r>
              <a:rPr lang="en-US"/>
              <a:t>Unsure: evaluator gap</a:t>
            </a:r>
            <a:endParaRPr lang="en-US" dirty="0"/>
          </a:p>
        </p:txBody>
      </p:sp>
      <p:sp>
        <p:nvSpPr>
          <p:cNvPr id="19" name="Text 27"/>
          <p:cNvSpPr>
            <a:spLocks noGrp="1"/>
          </p:cNvSpPr>
          <p:nvPr>
            <p:ph type="body" idx="143" hasCustomPrompt="1"/>
          </p:nvPr>
        </p:nvSpPr>
        <p:spPr/>
        <p:txBody>
          <a:bodyPr>
            <a:noAutofit/>
          </a:bodyPr>
          <a:lstStyle/>
          <a:p>
            <a:pPr marL="0" indent="0">
              <a:buNone/>
            </a:pPr>
            <a:r>
              <a:rPr lang="en-US"/>
              <a:t>Unsure: RL unprofiled</a:t>
            </a:r>
            <a:endParaRPr lang="en-US" dirty="0"/>
          </a:p>
        </p:txBody>
      </p:sp>
      <p:sp>
        <p:nvSpPr>
          <p:cNvPr id="20" name="Text 28"/>
          <p:cNvSpPr>
            <a:spLocks noGrp="1"/>
          </p:cNvSpPr>
          <p:nvPr>
            <p:ph type="body" idx="145" hasCustomPrompt="1"/>
          </p:nvPr>
        </p:nvSpPr>
        <p:spPr/>
        <p:txBody>
          <a:bodyPr>
            <a:noAutofit/>
          </a:bodyPr>
          <a:lstStyle/>
          <a:p>
            <a:pPr marL="0" indent="0">
              <a:buNone/>
            </a:pPr>
            <a:r>
              <a:rPr lang="en-US"/>
              <a:t>No: not measured</a:t>
            </a:r>
            <a:endParaRPr lang="en-US" dirty="0"/>
          </a:p>
        </p:txBody>
      </p:sp>
      <p:sp>
        <p:nvSpPr>
          <p:cNvPr id="21" name="Text 29"/>
          <p:cNvSpPr>
            <a:spLocks noGrp="1"/>
          </p:cNvSpPr>
          <p:nvPr>
            <p:ph type="body" idx="147" hasCustomPrompt="1"/>
          </p:nvPr>
        </p:nvSpPr>
        <p:spPr/>
        <p:txBody>
          <a:bodyPr>
            <a:noAutofit/>
          </a:bodyPr>
          <a:lstStyle/>
          <a:p>
            <a:pPr marL="0" indent="0">
              <a:buNone/>
            </a:pPr>
            <a:r>
              <a:rPr lang="en-US"/>
              <a:t>Unsure: transfer untested</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1454</Words>
  <Application>Microsoft Macintosh PowerPoint</Application>
  <PresentationFormat>Widescreen</PresentationFormat>
  <Paragraphs>63</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Courier New</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10 — Transferable Graph Scheduling: Synthetic Data Progress</dc:title>
  <dc:subject>PptxGenJS Presentation</dc:subject>
  <dc:creator>PptxGenJS</dc:creator>
  <cp:lastModifiedBy>Phúc Hoàng</cp:lastModifiedBy>
  <cp:revision>8</cp:revision>
  <dcterms:created xsi:type="dcterms:W3CDTF">2026-10-25T13:38:56Z</dcterms:created>
  <dcterms:modified xsi:type="dcterms:W3CDTF">2026-10-28T04:10:25Z</dcterms:modified>
</cp:coreProperties>
</file>